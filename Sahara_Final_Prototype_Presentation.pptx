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8" d="100"/>
          <a:sy n="158" d="100"/>
        </p:scale>
        <p:origin x="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2512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B8504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31520" y="914400"/>
            <a:ext cx="640080" cy="640080"/>
          </a:xfrm>
          <a:prstGeom prst="rect">
            <a:avLst/>
          </a:prstGeom>
        </p:spPr>
      </p:pic>
      <p:sp>
        <p:nvSpPr>
          <p:cNvPr id="4" name="Text 1"/>
          <p:cNvSpPr/>
          <p:nvPr/>
        </p:nvSpPr>
        <p:spPr>
          <a:xfrm>
            <a:off x="731520" y="169164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Sahara — सहारा</a:t>
            </a:r>
            <a:endParaRPr lang="en-US" sz="3600" dirty="0"/>
          </a:p>
        </p:txBody>
      </p:sp>
      <p:sp>
        <p:nvSpPr>
          <p:cNvPr id="5" name="Text 2"/>
          <p:cNvSpPr/>
          <p:nvPr/>
        </p:nvSpPr>
        <p:spPr>
          <a:xfrm>
            <a:off x="731520" y="2377440"/>
            <a:ext cx="731520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Final Prototype Submission</a:t>
            </a:r>
            <a:endParaRPr lang="en-US" sz="2200" dirty="0"/>
          </a:p>
        </p:txBody>
      </p:sp>
      <p:sp>
        <p:nvSpPr>
          <p:cNvPr id="6" name="Text 3"/>
          <p:cNvSpPr/>
          <p:nvPr/>
        </p:nvSpPr>
        <p:spPr>
          <a:xfrm>
            <a:off x="731520" y="2926080"/>
            <a:ext cx="731520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Ethical Issues with AI — MSL7500</a:t>
            </a:r>
            <a:endParaRPr lang="en-US" sz="1600" dirty="0"/>
          </a:p>
        </p:txBody>
      </p:sp>
      <p:sp>
        <p:nvSpPr>
          <p:cNvPr id="7" name="Shape 4"/>
          <p:cNvSpPr/>
          <p:nvPr/>
        </p:nvSpPr>
        <p:spPr>
          <a:xfrm>
            <a:off x="731520" y="3657600"/>
            <a:ext cx="4572000" cy="1097280"/>
          </a:xfrm>
          <a:prstGeom prst="rect">
            <a:avLst/>
          </a:prstGeom>
          <a:solidFill>
            <a:srgbClr val="2A3A70"/>
          </a:solidFill>
          <a:ln/>
        </p:spPr>
        <p:txBody>
          <a:bodyPr/>
          <a:lstStyle/>
          <a:p>
            <a:endParaRPr lang="en-US"/>
          </a:p>
        </p:txBody>
      </p:sp>
      <p:sp>
        <p:nvSpPr>
          <p:cNvPr id="8" name="Text 5"/>
          <p:cNvSpPr/>
          <p:nvPr/>
        </p:nvSpPr>
        <p:spPr>
          <a:xfrm>
            <a:off x="914400" y="3749040"/>
            <a:ext cx="4206240" cy="91440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Team Members: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Ishaan Pandey (B22CI017) · Om Singh (B22ME044) · Deekshant Singh Rajawat (B22CI010)</a:t>
            </a:r>
            <a:endParaRPr lang="en-US" sz="1300" dirty="0"/>
          </a:p>
          <a:p>
            <a:pPr marL="0" indent="0">
              <a:buNone/>
            </a:pPr>
            <a:r>
              <a:rPr lang="en-US" sz="1100" dirty="0">
                <a:solidFill>
                  <a:srgbClr val="CADCFC"/>
                </a:solidFill>
                <a:latin typeface="Calibri" pitchFamily="34" charset="0"/>
                <a:ea typeface="Calibri" pitchFamily="34" charset="-122"/>
                <a:cs typeface="Calibri" pitchFamily="34" charset="-120"/>
              </a:rPr>
              <a:t>Date: 21 April 2026  |  IIT Jodhpur · School of Management and Entrepreneurship</a:t>
            </a:r>
            <a:endParaRPr lang="en-US" sz="1300" dirty="0"/>
          </a:p>
        </p:txBody>
      </p:sp>
      <p:sp>
        <p:nvSpPr>
          <p:cNvPr id="9" name="Text 6"/>
          <p:cNvSpPr/>
          <p:nvPr/>
        </p:nvSpPr>
        <p:spPr>
          <a:xfrm>
            <a:off x="8412480" y="4754880"/>
            <a:ext cx="457200" cy="274320"/>
          </a:xfrm>
          <a:prstGeom prst="rect">
            <a:avLst/>
          </a:prstGeom>
          <a:noFill/>
          <a:ln/>
        </p:spPr>
        <p:txBody>
          <a:bodyPr wrap="square" rtlCol="0" anchor="ctr"/>
          <a:lstStyle/>
          <a:p>
            <a:pPr marL="0" indent="0" algn="r">
              <a:buNone/>
            </a:pPr>
            <a:r>
              <a:rPr lang="en-US" sz="1000" dirty="0">
                <a:solidFill>
                  <a:srgbClr val="CADCFC"/>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Presentation Outline</a:t>
            </a:r>
            <a:endParaRPr lang="en-US" sz="3200" dirty="0"/>
          </a:p>
        </p:txBody>
      </p:sp>
      <p:sp>
        <p:nvSpPr>
          <p:cNvPr id="3" name="Shape 1"/>
          <p:cNvSpPr/>
          <p:nvPr/>
        </p:nvSpPr>
        <p:spPr>
          <a:xfrm>
            <a:off x="640080" y="1143000"/>
            <a:ext cx="320040" cy="320040"/>
          </a:xfrm>
          <a:prstGeom prst="ellipse">
            <a:avLst/>
          </a:prstGeom>
          <a:solidFill>
            <a:srgbClr val="1E2761"/>
          </a:solidFill>
          <a:ln/>
        </p:spPr>
        <p:txBody>
          <a:bodyPr/>
          <a:lstStyle/>
          <a:p>
            <a:endParaRPr lang="en-US"/>
          </a:p>
        </p:txBody>
      </p:sp>
      <p:sp>
        <p:nvSpPr>
          <p:cNvPr id="4" name="Text 2"/>
          <p:cNvSpPr/>
          <p:nvPr/>
        </p:nvSpPr>
        <p:spPr>
          <a:xfrm>
            <a:off x="640080" y="114300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188720" y="107899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Problem Statement &amp; Motivation</a:t>
            </a:r>
            <a:endParaRPr lang="en-US" sz="1500" dirty="0"/>
          </a:p>
        </p:txBody>
      </p:sp>
      <p:sp>
        <p:nvSpPr>
          <p:cNvPr id="6" name="Text 4"/>
          <p:cNvSpPr/>
          <p:nvPr/>
        </p:nvSpPr>
        <p:spPr>
          <a:xfrm>
            <a:off x="1188720" y="131673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What problem does this application solve?</a:t>
            </a:r>
            <a:endParaRPr lang="en-US" sz="1100" dirty="0"/>
          </a:p>
        </p:txBody>
      </p:sp>
      <p:sp>
        <p:nvSpPr>
          <p:cNvPr id="7" name="Shape 5"/>
          <p:cNvSpPr/>
          <p:nvPr/>
        </p:nvSpPr>
        <p:spPr>
          <a:xfrm>
            <a:off x="640080" y="1691640"/>
            <a:ext cx="320040" cy="320040"/>
          </a:xfrm>
          <a:prstGeom prst="ellipse">
            <a:avLst/>
          </a:prstGeom>
          <a:solidFill>
            <a:srgbClr val="1E2761"/>
          </a:solidFill>
          <a:ln/>
        </p:spPr>
        <p:txBody>
          <a:bodyPr/>
          <a:lstStyle/>
          <a:p>
            <a:endParaRPr lang="en-US"/>
          </a:p>
        </p:txBody>
      </p:sp>
      <p:sp>
        <p:nvSpPr>
          <p:cNvPr id="8" name="Text 6"/>
          <p:cNvSpPr/>
          <p:nvPr/>
        </p:nvSpPr>
        <p:spPr>
          <a:xfrm>
            <a:off x="640080" y="169164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188720" y="162763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Application Overview &amp; Technical Architecture</a:t>
            </a:r>
            <a:endParaRPr lang="en-US" sz="1500" dirty="0"/>
          </a:p>
        </p:txBody>
      </p:sp>
      <p:sp>
        <p:nvSpPr>
          <p:cNvPr id="10" name="Text 8"/>
          <p:cNvSpPr/>
          <p:nvPr/>
        </p:nvSpPr>
        <p:spPr>
          <a:xfrm>
            <a:off x="1188720" y="186537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Tech stack, AI model, system design</a:t>
            </a:r>
            <a:endParaRPr lang="en-US" sz="1100" dirty="0"/>
          </a:p>
        </p:txBody>
      </p:sp>
      <p:sp>
        <p:nvSpPr>
          <p:cNvPr id="11" name="Shape 9"/>
          <p:cNvSpPr/>
          <p:nvPr/>
        </p:nvSpPr>
        <p:spPr>
          <a:xfrm>
            <a:off x="640080" y="2240280"/>
            <a:ext cx="320040" cy="320040"/>
          </a:xfrm>
          <a:prstGeom prst="ellipse">
            <a:avLst/>
          </a:prstGeom>
          <a:solidFill>
            <a:srgbClr val="1E2761"/>
          </a:solidFill>
          <a:ln/>
        </p:spPr>
        <p:txBody>
          <a:bodyPr/>
          <a:lstStyle/>
          <a:p>
            <a:endParaRPr lang="en-US"/>
          </a:p>
        </p:txBody>
      </p:sp>
      <p:sp>
        <p:nvSpPr>
          <p:cNvPr id="12" name="Text 10"/>
          <p:cNvSpPr/>
          <p:nvPr/>
        </p:nvSpPr>
        <p:spPr>
          <a:xfrm>
            <a:off x="640080" y="224028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188720" y="217627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Ethical Considerations in Design</a:t>
            </a:r>
            <a:endParaRPr lang="en-US" sz="1500" dirty="0"/>
          </a:p>
        </p:txBody>
      </p:sp>
      <p:sp>
        <p:nvSpPr>
          <p:cNvPr id="14" name="Text 12"/>
          <p:cNvSpPr/>
          <p:nvPr/>
        </p:nvSpPr>
        <p:spPr>
          <a:xfrm>
            <a:off x="1188720" y="241401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Ethics embedded during development</a:t>
            </a:r>
            <a:endParaRPr lang="en-US" sz="1100" dirty="0"/>
          </a:p>
        </p:txBody>
      </p:sp>
      <p:sp>
        <p:nvSpPr>
          <p:cNvPr id="15" name="Shape 13"/>
          <p:cNvSpPr/>
          <p:nvPr/>
        </p:nvSpPr>
        <p:spPr>
          <a:xfrm>
            <a:off x="640080" y="2788920"/>
            <a:ext cx="320040" cy="320040"/>
          </a:xfrm>
          <a:prstGeom prst="ellipse">
            <a:avLst/>
          </a:prstGeom>
          <a:solidFill>
            <a:srgbClr val="1E2761"/>
          </a:solidFill>
          <a:ln/>
        </p:spPr>
        <p:txBody>
          <a:bodyPr/>
          <a:lstStyle/>
          <a:p>
            <a:endParaRPr lang="en-US"/>
          </a:p>
        </p:txBody>
      </p:sp>
      <p:sp>
        <p:nvSpPr>
          <p:cNvPr id="16" name="Text 14"/>
          <p:cNvSpPr/>
          <p:nvPr/>
        </p:nvSpPr>
        <p:spPr>
          <a:xfrm>
            <a:off x="640080" y="278892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188720" y="272491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Customer Feedback Process &amp; Analysis</a:t>
            </a:r>
            <a:endParaRPr lang="en-US" sz="1500" dirty="0"/>
          </a:p>
        </p:txBody>
      </p:sp>
      <p:sp>
        <p:nvSpPr>
          <p:cNvPr id="18" name="Text 16"/>
          <p:cNvSpPr/>
          <p:nvPr/>
        </p:nvSpPr>
        <p:spPr>
          <a:xfrm>
            <a:off x="1188720" y="296265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Methodology, demographics, key findings</a:t>
            </a:r>
            <a:endParaRPr lang="en-US" sz="1100" dirty="0"/>
          </a:p>
        </p:txBody>
      </p:sp>
      <p:sp>
        <p:nvSpPr>
          <p:cNvPr id="19" name="Shape 17"/>
          <p:cNvSpPr/>
          <p:nvPr/>
        </p:nvSpPr>
        <p:spPr>
          <a:xfrm>
            <a:off x="640080" y="3337560"/>
            <a:ext cx="320040" cy="320040"/>
          </a:xfrm>
          <a:prstGeom prst="ellipse">
            <a:avLst/>
          </a:prstGeom>
          <a:solidFill>
            <a:srgbClr val="B85042"/>
          </a:solidFill>
          <a:ln/>
        </p:spPr>
        <p:txBody>
          <a:bodyPr/>
          <a:lstStyle/>
          <a:p>
            <a:endParaRPr lang="en-US"/>
          </a:p>
        </p:txBody>
      </p:sp>
      <p:sp>
        <p:nvSpPr>
          <p:cNvPr id="20" name="Text 18"/>
          <p:cNvSpPr/>
          <p:nvPr/>
        </p:nvSpPr>
        <p:spPr>
          <a:xfrm>
            <a:off x="640080" y="333756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188720" y="327355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Ethical Issues Identified from Feedback</a:t>
            </a:r>
            <a:endParaRPr lang="en-US" sz="1500" dirty="0"/>
          </a:p>
        </p:txBody>
      </p:sp>
      <p:sp>
        <p:nvSpPr>
          <p:cNvPr id="22" name="Text 20"/>
          <p:cNvSpPr/>
          <p:nvPr/>
        </p:nvSpPr>
        <p:spPr>
          <a:xfrm>
            <a:off x="1188720" y="351129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Bias, privacy, transparency, safety concerns</a:t>
            </a:r>
            <a:endParaRPr lang="en-US" sz="1100" dirty="0"/>
          </a:p>
        </p:txBody>
      </p:sp>
      <p:sp>
        <p:nvSpPr>
          <p:cNvPr id="23" name="Shape 21"/>
          <p:cNvSpPr/>
          <p:nvPr/>
        </p:nvSpPr>
        <p:spPr>
          <a:xfrm>
            <a:off x="640080" y="3886200"/>
            <a:ext cx="320040" cy="320040"/>
          </a:xfrm>
          <a:prstGeom prst="ellipse">
            <a:avLst/>
          </a:prstGeom>
          <a:solidFill>
            <a:srgbClr val="1E2761"/>
          </a:solidFill>
          <a:ln/>
        </p:spPr>
        <p:txBody>
          <a:bodyPr/>
          <a:lstStyle/>
          <a:p>
            <a:endParaRPr lang="en-US"/>
          </a:p>
        </p:txBody>
      </p:sp>
      <p:sp>
        <p:nvSpPr>
          <p:cNvPr id="24" name="Text 22"/>
          <p:cNvSpPr/>
          <p:nvPr/>
        </p:nvSpPr>
        <p:spPr>
          <a:xfrm>
            <a:off x="640080" y="388620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1188720" y="382219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Iterations &amp; Ethical Improvements</a:t>
            </a:r>
            <a:endParaRPr lang="en-US" sz="1500" dirty="0"/>
          </a:p>
        </p:txBody>
      </p:sp>
      <p:sp>
        <p:nvSpPr>
          <p:cNvPr id="26" name="Text 24"/>
          <p:cNvSpPr/>
          <p:nvPr/>
        </p:nvSpPr>
        <p:spPr>
          <a:xfrm>
            <a:off x="1188720" y="405993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How feedback drove changes</a:t>
            </a:r>
            <a:endParaRPr lang="en-US" sz="1100" dirty="0"/>
          </a:p>
        </p:txBody>
      </p:sp>
      <p:sp>
        <p:nvSpPr>
          <p:cNvPr id="27" name="Shape 25"/>
          <p:cNvSpPr/>
          <p:nvPr/>
        </p:nvSpPr>
        <p:spPr>
          <a:xfrm>
            <a:off x="640080" y="4434840"/>
            <a:ext cx="320040" cy="320040"/>
          </a:xfrm>
          <a:prstGeom prst="ellipse">
            <a:avLst/>
          </a:prstGeom>
          <a:solidFill>
            <a:srgbClr val="1E2761"/>
          </a:solidFill>
          <a:ln/>
        </p:spPr>
        <p:txBody>
          <a:bodyPr/>
          <a:lstStyle/>
          <a:p>
            <a:endParaRPr lang="en-US"/>
          </a:p>
        </p:txBody>
      </p:sp>
      <p:sp>
        <p:nvSpPr>
          <p:cNvPr id="28" name="Text 26"/>
          <p:cNvSpPr/>
          <p:nvPr/>
        </p:nvSpPr>
        <p:spPr>
          <a:xfrm>
            <a:off x="640080" y="443484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9" name="Text 27"/>
          <p:cNvSpPr/>
          <p:nvPr/>
        </p:nvSpPr>
        <p:spPr>
          <a:xfrm>
            <a:off x="1188720" y="4370832"/>
            <a:ext cx="6400800" cy="274320"/>
          </a:xfrm>
          <a:prstGeom prst="rect">
            <a:avLst/>
          </a:prstGeom>
          <a:noFill/>
          <a:ln/>
        </p:spPr>
        <p:txBody>
          <a:bodyPr wrap="square" lIns="0" tIns="0" rIns="0" bIns="0" rtlCol="0" anchor="ctr"/>
          <a:lstStyle/>
          <a:p>
            <a:pPr marL="0" indent="0">
              <a:buNone/>
            </a:pPr>
            <a:r>
              <a:rPr lang="en-US" sz="1500" b="1" dirty="0">
                <a:solidFill>
                  <a:srgbClr val="2A2A2A"/>
                </a:solidFill>
                <a:latin typeface="Calibri" pitchFamily="34" charset="0"/>
                <a:ea typeface="Calibri" pitchFamily="34" charset="-122"/>
                <a:cs typeface="Calibri" pitchFamily="34" charset="-120"/>
              </a:rPr>
              <a:t>Final Prototype Demo &amp; Reflection</a:t>
            </a:r>
            <a:endParaRPr lang="en-US" sz="1500" dirty="0"/>
          </a:p>
        </p:txBody>
      </p:sp>
      <p:sp>
        <p:nvSpPr>
          <p:cNvPr id="30" name="Text 28"/>
          <p:cNvSpPr/>
          <p:nvPr/>
        </p:nvSpPr>
        <p:spPr>
          <a:xfrm>
            <a:off x="1188720" y="4608576"/>
            <a:ext cx="640080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Live demo and lessons learned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Problem Statement &amp; Motivation</a:t>
            </a:r>
            <a:endParaRPr lang="en-US" sz="3000" dirty="0"/>
          </a:p>
        </p:txBody>
      </p:sp>
      <p:sp>
        <p:nvSpPr>
          <p:cNvPr id="3" name="Shape 1"/>
          <p:cNvSpPr/>
          <p:nvPr/>
        </p:nvSpPr>
        <p:spPr>
          <a:xfrm>
            <a:off x="457200" y="1097280"/>
            <a:ext cx="3840480" cy="3474720"/>
          </a:xfrm>
          <a:prstGeom prst="rect">
            <a:avLst/>
          </a:prstGeom>
          <a:solidFill>
            <a:srgbClr val="F5F7FA"/>
          </a:solidFill>
          <a:ln/>
        </p:spPr>
        <p:txBody>
          <a:bodyPr/>
          <a:lstStyle/>
          <a:p>
            <a:endParaRPr lang="en-US"/>
          </a:p>
        </p:txBody>
      </p:sp>
      <p:sp>
        <p:nvSpPr>
          <p:cNvPr id="4" name="Text 2"/>
          <p:cNvSpPr/>
          <p:nvPr/>
        </p:nvSpPr>
        <p:spPr>
          <a:xfrm>
            <a:off x="640080" y="1280160"/>
            <a:ext cx="3474720" cy="36576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The Problem</a:t>
            </a:r>
            <a:endParaRPr lang="en-US" sz="1800" dirty="0"/>
          </a:p>
        </p:txBody>
      </p:sp>
      <p:sp>
        <p:nvSpPr>
          <p:cNvPr id="5" name="Text 3"/>
          <p:cNvSpPr/>
          <p:nvPr/>
        </p:nvSpPr>
        <p:spPr>
          <a:xfrm>
            <a:off x="640080" y="1737360"/>
            <a:ext cx="3474720" cy="182880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Indian college students — especially at high-pressure technical institutes like IIT Jodhpur — face rising stress, anxiety, exam pressure and loneliness. Stigma, limited counselor availability, and long wait times stop many from seeking help early. The problem is large, time-sensitive, and often first surfaces at odd hours when no counselor is reachable.</a:t>
            </a:r>
            <a:endParaRPr lang="en-US" sz="1300" dirty="0"/>
          </a:p>
        </p:txBody>
      </p:sp>
      <p:sp>
        <p:nvSpPr>
          <p:cNvPr id="6" name="Text 4"/>
          <p:cNvSpPr/>
          <p:nvPr/>
        </p:nvSpPr>
        <p:spPr>
          <a:xfrm>
            <a:off x="4846320" y="1280160"/>
            <a:ext cx="3840480" cy="36576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Why AI?</a:t>
            </a:r>
            <a:endParaRPr lang="en-US" sz="1800" dirty="0"/>
          </a:p>
        </p:txBody>
      </p:sp>
      <p:sp>
        <p:nvSpPr>
          <p:cNvPr id="7" name="Text 5"/>
          <p:cNvSpPr/>
          <p:nvPr/>
        </p:nvSpPr>
        <p:spPr>
          <a:xfrm>
            <a:off x="4846320" y="1737360"/>
            <a:ext cx="3840480" cy="228600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AI is always-available, non-judgmental, and low-friction — a first-contact listener a student can reach at 2 a.m. Unlike a static FAQ app, an LLM can hold an empathetic, contextual conversation and adapt to how the student is actually feeling.</a:t>
            </a:r>
            <a:endParaRPr lang="en-US" sz="1300" dirty="0"/>
          </a:p>
          <a:p>
            <a:pPr marL="0" indent="0">
              <a:buNone/>
            </a:pPr>
            <a:endParaRPr lang="en-US" sz="1300" dirty="0"/>
          </a:p>
          <a:p>
            <a:pPr marL="0" indent="0">
              <a:buNone/>
            </a:pPr>
            <a:r>
              <a:rPr lang="en-US" sz="1300" b="1" dirty="0">
                <a:solidFill>
                  <a:srgbClr val="2A2A2A"/>
                </a:solidFill>
                <a:latin typeface="Calibri" pitchFamily="34" charset="0"/>
                <a:ea typeface="Calibri" pitchFamily="34" charset="-122"/>
                <a:cs typeface="Calibri" pitchFamily="34" charset="-120"/>
              </a:rPr>
              <a:t>Target Users: </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Primary: undergraduate students at IIT Jodhpur. Secondary: the institute Student Wellness Cell (for anonymised aggregate trends) and peer student populations at similar technical institutes.</a:t>
            </a:r>
            <a:endParaRPr lang="en-US" sz="1300" dirty="0"/>
          </a:p>
        </p:txBody>
      </p:sp>
      <p:sp>
        <p:nvSpPr>
          <p:cNvPr id="8" name="Text 6"/>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Instructor Note: This slide sets the context. Be specific, cite data if available, and avoid vague generalizations.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Application Overview</a:t>
            </a:r>
            <a:endParaRPr lang="en-US" sz="3000" dirty="0"/>
          </a:p>
        </p:txBody>
      </p:sp>
      <p:sp>
        <p:nvSpPr>
          <p:cNvPr id="3" name="Shape 1"/>
          <p:cNvSpPr/>
          <p:nvPr/>
        </p:nvSpPr>
        <p:spPr>
          <a:xfrm>
            <a:off x="457200" y="1097280"/>
            <a:ext cx="3931920" cy="1554480"/>
          </a:xfrm>
          <a:prstGeom prst="rect">
            <a:avLst/>
          </a:prstGeom>
          <a:solidFill>
            <a:srgbClr val="F5F7FA"/>
          </a:solidFill>
          <a:ln/>
          <a:effectLst>
            <a:outerShdw blurRad="50800" dist="25400" dir="8100000" algn="bl" rotWithShape="0">
              <a:srgbClr val="000000">
                <a:alpha val="8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1325880"/>
            <a:ext cx="365760" cy="365760"/>
          </a:xfrm>
          <a:prstGeom prst="rect">
            <a:avLst/>
          </a:prstGeom>
        </p:spPr>
      </p:pic>
      <p:sp>
        <p:nvSpPr>
          <p:cNvPr id="5" name="Text 2"/>
          <p:cNvSpPr/>
          <p:nvPr/>
        </p:nvSpPr>
        <p:spPr>
          <a:xfrm>
            <a:off x="1143000" y="128016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Core Functionality</a:t>
            </a:r>
            <a:endParaRPr lang="en-US" sz="1500" dirty="0"/>
          </a:p>
        </p:txBody>
      </p:sp>
      <p:sp>
        <p:nvSpPr>
          <p:cNvPr id="6" name="Text 3"/>
          <p:cNvSpPr/>
          <p:nvPr/>
        </p:nvSpPr>
        <p:spPr>
          <a:xfrm>
            <a:off x="1143000" y="1645920"/>
            <a:ext cx="301752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chat-first peer-listener web app. The student opens the site, consents, types how they feel, and Sahara responds empathetically. Mood is optionally logged. On crisis signals, the AI is bypassed and real helpline contacts are shown instantly.</a:t>
            </a:r>
            <a:endParaRPr lang="en-US" sz="1200" dirty="0"/>
          </a:p>
        </p:txBody>
      </p:sp>
      <p:sp>
        <p:nvSpPr>
          <p:cNvPr id="7" name="Shape 4"/>
          <p:cNvSpPr/>
          <p:nvPr/>
        </p:nvSpPr>
        <p:spPr>
          <a:xfrm>
            <a:off x="4754880" y="1097280"/>
            <a:ext cx="3931920" cy="1554480"/>
          </a:xfrm>
          <a:prstGeom prst="rect">
            <a:avLst/>
          </a:prstGeom>
          <a:solidFill>
            <a:srgbClr val="F5F7FA"/>
          </a:solidFill>
          <a:ln/>
          <a:effectLst>
            <a:outerShdw blurRad="50800" dist="25400" dir="8100000" algn="bl" rotWithShape="0">
              <a:srgbClr val="000000">
                <a:alpha val="8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4937760" y="1325880"/>
            <a:ext cx="365760" cy="365760"/>
          </a:xfrm>
          <a:prstGeom prst="rect">
            <a:avLst/>
          </a:prstGeom>
        </p:spPr>
      </p:pic>
      <p:sp>
        <p:nvSpPr>
          <p:cNvPr id="9" name="Text 5"/>
          <p:cNvSpPr/>
          <p:nvPr/>
        </p:nvSpPr>
        <p:spPr>
          <a:xfrm>
            <a:off x="5440680" y="128016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Tech Stack</a:t>
            </a:r>
            <a:endParaRPr lang="en-US" sz="1500" dirty="0"/>
          </a:p>
        </p:txBody>
      </p:sp>
      <p:sp>
        <p:nvSpPr>
          <p:cNvPr id="10" name="Text 6"/>
          <p:cNvSpPr/>
          <p:nvPr/>
        </p:nvSpPr>
        <p:spPr>
          <a:xfrm>
            <a:off x="5440680" y="1645920"/>
            <a:ext cx="301752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Flask + Jinja backend; vanilla HTML/CSS/JS + Chart.js frontend. Groq API serving Llama-3.3-70B-Versatile. Session-only state (Flask session) — no persistent database. Hosted on Render.</a:t>
            </a:r>
            <a:endParaRPr lang="en-US" sz="1200" dirty="0"/>
          </a:p>
        </p:txBody>
      </p:sp>
      <p:sp>
        <p:nvSpPr>
          <p:cNvPr id="11" name="Shape 7"/>
          <p:cNvSpPr/>
          <p:nvPr/>
        </p:nvSpPr>
        <p:spPr>
          <a:xfrm>
            <a:off x="457200" y="2926080"/>
            <a:ext cx="3931920" cy="1554480"/>
          </a:xfrm>
          <a:prstGeom prst="rect">
            <a:avLst/>
          </a:prstGeom>
          <a:solidFill>
            <a:srgbClr val="F5F7FA"/>
          </a:solidFill>
          <a:ln/>
          <a:effectLst>
            <a:outerShdw blurRad="50800" dist="25400" dir="8100000" algn="bl" rotWithShape="0">
              <a:srgbClr val="000000">
                <a:alpha val="8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640080" y="3154680"/>
            <a:ext cx="365760" cy="365760"/>
          </a:xfrm>
          <a:prstGeom prst="rect">
            <a:avLst/>
          </a:prstGeom>
        </p:spPr>
      </p:pic>
      <p:sp>
        <p:nvSpPr>
          <p:cNvPr id="13" name="Text 8"/>
          <p:cNvSpPr/>
          <p:nvPr/>
        </p:nvSpPr>
        <p:spPr>
          <a:xfrm>
            <a:off x="1143000" y="310896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 Sources</a:t>
            </a:r>
            <a:endParaRPr lang="en-US" sz="1500" dirty="0"/>
          </a:p>
        </p:txBody>
      </p:sp>
      <p:sp>
        <p:nvSpPr>
          <p:cNvPr id="14" name="Text 9"/>
          <p:cNvSpPr/>
          <p:nvPr/>
        </p:nvSpPr>
        <p:spPr>
          <a:xfrm>
            <a:off x="1143000" y="3474720"/>
            <a:ext cx="301752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Only in-session user text + an optional user-selected mood tag. No names, no emails, no identifiers. No external datasets. Nothing persists after the session or the 🗑️ reset.</a:t>
            </a:r>
            <a:endParaRPr lang="en-US" sz="1200" dirty="0"/>
          </a:p>
        </p:txBody>
      </p:sp>
      <p:sp>
        <p:nvSpPr>
          <p:cNvPr id="15" name="Shape 10"/>
          <p:cNvSpPr/>
          <p:nvPr/>
        </p:nvSpPr>
        <p:spPr>
          <a:xfrm>
            <a:off x="4754880" y="2926080"/>
            <a:ext cx="3931920" cy="1554480"/>
          </a:xfrm>
          <a:prstGeom prst="rect">
            <a:avLst/>
          </a:prstGeom>
          <a:solidFill>
            <a:srgbClr val="F5F7FA"/>
          </a:solidFill>
          <a:ln/>
          <a:effectLst>
            <a:outerShdw blurRad="50800" dist="25400" dir="8100000" algn="bl" rotWithShape="0">
              <a:srgbClr val="000000">
                <a:alpha val="8000"/>
              </a:srgbClr>
            </a:outerShdw>
          </a:effectLst>
        </p:spPr>
        <p:txBody>
          <a:bodyPr/>
          <a:lstStyle/>
          <a:p>
            <a:endParaRPr lang="en-US"/>
          </a:p>
        </p:txBody>
      </p:sp>
      <p:pic>
        <p:nvPicPr>
          <p:cNvPr id="16" name="Image 3" descr="preencoded.png"/>
          <p:cNvPicPr>
            <a:picLocks noChangeAspect="1"/>
          </p:cNvPicPr>
          <p:nvPr/>
        </p:nvPicPr>
        <p:blipFill>
          <a:blip r:embed="rId6"/>
          <a:stretch>
            <a:fillRect/>
          </a:stretch>
        </p:blipFill>
        <p:spPr>
          <a:xfrm>
            <a:off x="4937760" y="3154680"/>
            <a:ext cx="365760" cy="365760"/>
          </a:xfrm>
          <a:prstGeom prst="rect">
            <a:avLst/>
          </a:prstGeom>
        </p:spPr>
      </p:pic>
      <p:sp>
        <p:nvSpPr>
          <p:cNvPr id="17" name="Text 11"/>
          <p:cNvSpPr/>
          <p:nvPr/>
        </p:nvSpPr>
        <p:spPr>
          <a:xfrm>
            <a:off x="5440680" y="3108960"/>
            <a:ext cx="292608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AI Role</a:t>
            </a:r>
            <a:endParaRPr lang="en-US" sz="1500" dirty="0"/>
          </a:p>
        </p:txBody>
      </p:sp>
      <p:sp>
        <p:nvSpPr>
          <p:cNvPr id="18" name="Text 12"/>
          <p:cNvSpPr/>
          <p:nvPr/>
        </p:nvSpPr>
        <p:spPr>
          <a:xfrm>
            <a:off x="5440680" y="3474720"/>
            <a:ext cx="301752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Generation: empathetic natural-language replies via LLM. Rule-based classification: a 30-phrase safety filter runs before the LLM to catch crisis language. The AI does not diagnose, prescribe, or store anything.</a:t>
            </a:r>
            <a:endParaRPr lang="en-US" sz="1200" dirty="0"/>
          </a:p>
        </p:txBody>
      </p:sp>
      <p:sp>
        <p:nvSpPr>
          <p:cNvPr id="19" name="Text 13"/>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Include screenshots or a system architecture diagram on the next slide.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System Architecture &amp; Screenshots</a:t>
            </a:r>
            <a:endParaRPr lang="en-US" sz="3000" dirty="0"/>
          </a:p>
        </p:txBody>
      </p:sp>
      <p:sp>
        <p:nvSpPr>
          <p:cNvPr id="3" name="Shape 1"/>
          <p:cNvSpPr/>
          <p:nvPr/>
        </p:nvSpPr>
        <p:spPr>
          <a:xfrm>
            <a:off x="457200" y="1097280"/>
            <a:ext cx="3931920" cy="3200400"/>
          </a:xfrm>
          <a:prstGeom prst="rect">
            <a:avLst/>
          </a:prstGeom>
          <a:solidFill>
            <a:srgbClr val="F5F7FA"/>
          </a:solidFill>
          <a:ln w="12700">
            <a:solidFill>
              <a:srgbClr val="CCCCCC"/>
            </a:solidFill>
            <a:prstDash val="dash"/>
          </a:ln>
        </p:spPr>
        <p:txBody>
          <a:bodyPr/>
          <a:lstStyle/>
          <a:p>
            <a:endParaRPr lang="en-US"/>
          </a:p>
        </p:txBody>
      </p:sp>
      <p:sp>
        <p:nvSpPr>
          <p:cNvPr id="4" name="Text 2"/>
          <p:cNvSpPr/>
          <p:nvPr/>
        </p:nvSpPr>
        <p:spPr>
          <a:xfrm>
            <a:off x="457200" y="2286000"/>
            <a:ext cx="3931920" cy="457200"/>
          </a:xfrm>
          <a:prstGeom prst="rect">
            <a:avLst/>
          </a:prstGeom>
          <a:noFill/>
          <a:ln/>
        </p:spPr>
        <p:txBody>
          <a:bodyPr wrap="square"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5-Layer Architecture: (1) Interface  →  (2) AI Brain (Llama 3.3 via Groq)  →  (3) Safety Filter (keyword match, bypasses LLM on crisis)  →  (4) Mood Tracker (opt-in, client-side)  →  (5) Data Storage (Flask session only, no DB)</a:t>
            </a:r>
            <a:endParaRPr lang="en-US" sz="1300" dirty="0"/>
          </a:p>
        </p:txBody>
      </p:sp>
      <p:sp>
        <p:nvSpPr>
          <p:cNvPr id="5" name="Shape 3"/>
          <p:cNvSpPr/>
          <p:nvPr/>
        </p:nvSpPr>
        <p:spPr>
          <a:xfrm>
            <a:off x="4754880" y="1097280"/>
            <a:ext cx="3931920" cy="3200400"/>
          </a:xfrm>
          <a:prstGeom prst="rect">
            <a:avLst/>
          </a:prstGeom>
          <a:solidFill>
            <a:srgbClr val="F5F7FA"/>
          </a:solidFill>
          <a:ln w="12700">
            <a:solidFill>
              <a:srgbClr val="CCCCCC"/>
            </a:solidFill>
            <a:prstDash val="dash"/>
          </a:ln>
        </p:spPr>
        <p:txBody>
          <a:bodyPr/>
          <a:lstStyle/>
          <a:p>
            <a:endParaRPr lang="en-US"/>
          </a:p>
        </p:txBody>
      </p:sp>
      <p:sp>
        <p:nvSpPr>
          <p:cNvPr id="6" name="Text 4"/>
          <p:cNvSpPr/>
          <p:nvPr/>
        </p:nvSpPr>
        <p:spPr>
          <a:xfrm>
            <a:off x="4754880" y="2286000"/>
            <a:ext cx="3931920" cy="457200"/>
          </a:xfrm>
          <a:prstGeom prst="rect">
            <a:avLst/>
          </a:prstGeom>
          <a:noFill/>
          <a:ln/>
        </p:spPr>
        <p:txBody>
          <a:bodyPr wrap="square"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Screens demonstrated in live demo: Consent modal · Chat with AI-label + ℹ️ Why · 🚩 Report button · Mood chart · Crisis banner with iCall / NIMHANS / IITJ counselor · Resources tab · Breathing exercise</a:t>
            </a:r>
            <a:endParaRPr lang="en-US" sz="1300" dirty="0"/>
          </a:p>
        </p:txBody>
      </p:sp>
      <p:sp>
        <p:nvSpPr>
          <p:cNvPr id="7" name="Text 5"/>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Replace the dashed boxes with actual images. Multiple screenshots can be arranged across additional slides if needed.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Ethical Considerations in Design</a:t>
            </a:r>
            <a:endParaRPr lang="en-US" sz="3000" dirty="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What ethical principles or frameworks did you consider during the design and development of your prototype?</a:t>
            </a:r>
            <a:endParaRPr lang="en-US" sz="1300" dirty="0"/>
          </a:p>
        </p:txBody>
      </p:sp>
      <p:sp>
        <p:nvSpPr>
          <p:cNvPr id="4" name="Shape 2"/>
          <p:cNvSpPr/>
          <p:nvPr/>
        </p:nvSpPr>
        <p:spPr>
          <a:xfrm>
            <a:off x="457200" y="1371600"/>
            <a:ext cx="73152" cy="502920"/>
          </a:xfrm>
          <a:prstGeom prst="rect">
            <a:avLst/>
          </a:prstGeom>
          <a:solidFill>
            <a:srgbClr val="B85042"/>
          </a:solidFill>
          <a:ln/>
        </p:spPr>
        <p:txBody>
          <a:bodyPr/>
          <a:lstStyle/>
          <a:p>
            <a:endParaRPr lang="en-US"/>
          </a:p>
        </p:txBody>
      </p:sp>
      <p:sp>
        <p:nvSpPr>
          <p:cNvPr id="5" name="Text 3"/>
          <p:cNvSpPr/>
          <p:nvPr/>
        </p:nvSpPr>
        <p:spPr>
          <a:xfrm>
            <a:off x="731520" y="1353312"/>
            <a:ext cx="32004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Privacy by Design</a:t>
            </a:r>
            <a:endParaRPr lang="en-US" sz="1400" dirty="0"/>
          </a:p>
        </p:txBody>
      </p:sp>
      <p:sp>
        <p:nvSpPr>
          <p:cNvPr id="6" name="Text 4"/>
          <p:cNvSpPr/>
          <p:nvPr/>
        </p:nvSpPr>
        <p:spPr>
          <a:xfrm>
            <a:off x="3931920" y="1353312"/>
            <a:ext cx="475488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Session-only state; no login; no personal identifiers collected. Explicit checkbox consent before the first chat. One-click 🗑️ reset wipes everything. No third-party analytics.</a:t>
            </a:r>
            <a:endParaRPr lang="en-US" sz="1200" dirty="0"/>
          </a:p>
        </p:txBody>
      </p:sp>
      <p:sp>
        <p:nvSpPr>
          <p:cNvPr id="7" name="Shape 5"/>
          <p:cNvSpPr/>
          <p:nvPr/>
        </p:nvSpPr>
        <p:spPr>
          <a:xfrm>
            <a:off x="457200" y="2057400"/>
            <a:ext cx="73152" cy="502920"/>
          </a:xfrm>
          <a:prstGeom prst="rect">
            <a:avLst/>
          </a:prstGeom>
          <a:solidFill>
            <a:srgbClr val="B85042"/>
          </a:solidFill>
          <a:ln/>
        </p:spPr>
        <p:txBody>
          <a:bodyPr/>
          <a:lstStyle/>
          <a:p>
            <a:endParaRPr lang="en-US"/>
          </a:p>
        </p:txBody>
      </p:sp>
      <p:sp>
        <p:nvSpPr>
          <p:cNvPr id="8" name="Text 6"/>
          <p:cNvSpPr/>
          <p:nvPr/>
        </p:nvSpPr>
        <p:spPr>
          <a:xfrm>
            <a:off x="731520" y="2039112"/>
            <a:ext cx="32004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Bias Mitigation</a:t>
            </a:r>
            <a:endParaRPr lang="en-US" sz="1400" dirty="0"/>
          </a:p>
        </p:txBody>
      </p:sp>
      <p:sp>
        <p:nvSpPr>
          <p:cNvPr id="9" name="Text 7"/>
          <p:cNvSpPr/>
          <p:nvPr/>
        </p:nvSpPr>
        <p:spPr>
          <a:xfrm>
            <a:off x="3931920" y="2039112"/>
            <a:ext cx="475488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System prompt anchors a warm, non-judgmental peer tone and forbids diagnosis or medication talk. Safety filter is a transparent phrase list — auditable. Known limitation acknowledged: English-only and Western framing of mental-health concepts.</a:t>
            </a:r>
            <a:endParaRPr lang="en-US" sz="1200" dirty="0"/>
          </a:p>
        </p:txBody>
      </p:sp>
      <p:sp>
        <p:nvSpPr>
          <p:cNvPr id="10" name="Shape 8"/>
          <p:cNvSpPr/>
          <p:nvPr/>
        </p:nvSpPr>
        <p:spPr>
          <a:xfrm>
            <a:off x="457200" y="2743200"/>
            <a:ext cx="73152" cy="502920"/>
          </a:xfrm>
          <a:prstGeom prst="rect">
            <a:avLst/>
          </a:prstGeom>
          <a:solidFill>
            <a:srgbClr val="B85042"/>
          </a:solidFill>
          <a:ln/>
        </p:spPr>
        <p:txBody>
          <a:bodyPr/>
          <a:lstStyle/>
          <a:p>
            <a:endParaRPr lang="en-US"/>
          </a:p>
        </p:txBody>
      </p:sp>
      <p:sp>
        <p:nvSpPr>
          <p:cNvPr id="11" name="Text 9"/>
          <p:cNvSpPr/>
          <p:nvPr/>
        </p:nvSpPr>
        <p:spPr>
          <a:xfrm>
            <a:off x="731520" y="2724912"/>
            <a:ext cx="32004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Transparency</a:t>
            </a:r>
            <a:endParaRPr lang="en-US" sz="1400" dirty="0"/>
          </a:p>
        </p:txBody>
      </p:sp>
      <p:sp>
        <p:nvSpPr>
          <p:cNvPr id="12" name="Text 10"/>
          <p:cNvSpPr/>
          <p:nvPr/>
        </p:nvSpPr>
        <p:spPr>
          <a:xfrm>
            <a:off x="3931920" y="2724912"/>
            <a:ext cx="475488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Persistent "⚠️ AI — Not a therapist" badge. Every bot reply now carries a "🌊 Sahara · AI peer listener" label and an ℹ️ "Why this response?" popup explaining the model, context, and the Sahara system prompt used.</a:t>
            </a:r>
            <a:endParaRPr lang="en-US" sz="1200" dirty="0"/>
          </a:p>
        </p:txBody>
      </p:sp>
      <p:sp>
        <p:nvSpPr>
          <p:cNvPr id="13" name="Shape 11"/>
          <p:cNvSpPr/>
          <p:nvPr/>
        </p:nvSpPr>
        <p:spPr>
          <a:xfrm>
            <a:off x="457200" y="3429000"/>
            <a:ext cx="73152" cy="502920"/>
          </a:xfrm>
          <a:prstGeom prst="rect">
            <a:avLst/>
          </a:prstGeom>
          <a:solidFill>
            <a:srgbClr val="B85042"/>
          </a:solidFill>
          <a:ln/>
        </p:spPr>
        <p:txBody>
          <a:bodyPr/>
          <a:lstStyle/>
          <a:p>
            <a:endParaRPr lang="en-US"/>
          </a:p>
        </p:txBody>
      </p:sp>
      <p:sp>
        <p:nvSpPr>
          <p:cNvPr id="14" name="Text 12"/>
          <p:cNvSpPr/>
          <p:nvPr/>
        </p:nvSpPr>
        <p:spPr>
          <a:xfrm>
            <a:off x="731520" y="3410712"/>
            <a:ext cx="32004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User Autonomy &amp; Consent</a:t>
            </a:r>
            <a:endParaRPr lang="en-US" sz="1400" dirty="0"/>
          </a:p>
        </p:txBody>
      </p:sp>
      <p:sp>
        <p:nvSpPr>
          <p:cNvPr id="15" name="Text 13"/>
          <p:cNvSpPr/>
          <p:nvPr/>
        </p:nvSpPr>
        <p:spPr>
          <a:xfrm>
            <a:off x="3931920" y="3410712"/>
            <a:ext cx="475488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Consent is required before the first message. Mood tracking is fully optional. User can end / clear the session anytime via 🗑️. A 🚩 button lets the user reject any reply they find unhelpful or off.</a:t>
            </a:r>
            <a:endParaRPr lang="en-US" sz="1200" dirty="0"/>
          </a:p>
        </p:txBody>
      </p:sp>
      <p:sp>
        <p:nvSpPr>
          <p:cNvPr id="16" name="Shape 14"/>
          <p:cNvSpPr/>
          <p:nvPr/>
        </p:nvSpPr>
        <p:spPr>
          <a:xfrm>
            <a:off x="457200" y="4114800"/>
            <a:ext cx="73152" cy="502920"/>
          </a:xfrm>
          <a:prstGeom prst="rect">
            <a:avLst/>
          </a:prstGeom>
          <a:solidFill>
            <a:srgbClr val="B85042"/>
          </a:solidFill>
          <a:ln/>
        </p:spPr>
        <p:txBody>
          <a:bodyPr/>
          <a:lstStyle/>
          <a:p>
            <a:endParaRPr lang="en-US"/>
          </a:p>
        </p:txBody>
      </p:sp>
      <p:sp>
        <p:nvSpPr>
          <p:cNvPr id="17" name="Text 15"/>
          <p:cNvSpPr/>
          <p:nvPr/>
        </p:nvSpPr>
        <p:spPr>
          <a:xfrm>
            <a:off x="731520" y="4096512"/>
            <a:ext cx="32004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Safety &amp; Harm Prevention</a:t>
            </a:r>
            <a:endParaRPr lang="en-US" sz="1400" dirty="0"/>
          </a:p>
        </p:txBody>
      </p:sp>
      <p:sp>
        <p:nvSpPr>
          <p:cNvPr id="18" name="Text 16"/>
          <p:cNvSpPr/>
          <p:nvPr/>
        </p:nvSpPr>
        <p:spPr>
          <a:xfrm>
            <a:off x="3931920" y="4096512"/>
            <a:ext cx="4754880" cy="5029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Crisis filter runs BEFORE the LLM — on a hit, the LLM is bypassed and iCall (9152987821), NIMHANS, Vandrevala (24×7) and the IITJ counselor are shown immediately with a warm message, not clinical jargon.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Customer Feedback Process</a:t>
            </a:r>
            <a:endParaRPr lang="en-US" sz="3000" dirty="0"/>
          </a:p>
        </p:txBody>
      </p:sp>
      <p:sp>
        <p:nvSpPr>
          <p:cNvPr id="3" name="Shape 1"/>
          <p:cNvSpPr/>
          <p:nvPr/>
        </p:nvSpPr>
        <p:spPr>
          <a:xfrm>
            <a:off x="868680" y="1188720"/>
            <a:ext cx="457200" cy="457200"/>
          </a:xfrm>
          <a:prstGeom prst="ellipse">
            <a:avLst/>
          </a:prstGeom>
          <a:solidFill>
            <a:srgbClr val="1E2761"/>
          </a:solidFill>
          <a:ln/>
        </p:spPr>
        <p:txBody>
          <a:bodyPr/>
          <a:lstStyle/>
          <a:p>
            <a:endParaRPr lang="en-US"/>
          </a:p>
        </p:txBody>
      </p:sp>
      <p:sp>
        <p:nvSpPr>
          <p:cNvPr id="4" name="Text 2"/>
          <p:cNvSpPr/>
          <p:nvPr/>
        </p:nvSpPr>
        <p:spPr>
          <a:xfrm>
            <a:off x="868680" y="118872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274320" y="1783080"/>
            <a:ext cx="19202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Identify Respondents</a:t>
            </a:r>
            <a:endParaRPr lang="en-US" sz="1300" dirty="0"/>
          </a:p>
        </p:txBody>
      </p:sp>
      <p:sp>
        <p:nvSpPr>
          <p:cNvPr id="6" name="Text 4"/>
          <p:cNvSpPr/>
          <p:nvPr/>
        </p:nvSpPr>
        <p:spPr>
          <a:xfrm>
            <a:off x="274320" y="2148840"/>
            <a:ext cx="1920240" cy="54864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10 student respondents — mix of IIT Jodhpur UG peers and team members. Selected for a spread across familiarity with AI (Basic / Intermediate / Advanced) and usage duration (10–20 min).</a:t>
            </a:r>
            <a:endParaRPr lang="en-US" sz="1100" dirty="0"/>
          </a:p>
        </p:txBody>
      </p:sp>
      <p:sp>
        <p:nvSpPr>
          <p:cNvPr id="7" name="Shape 5"/>
          <p:cNvSpPr/>
          <p:nvPr/>
        </p:nvSpPr>
        <p:spPr>
          <a:xfrm>
            <a:off x="3063240" y="1188720"/>
            <a:ext cx="457200" cy="457200"/>
          </a:xfrm>
          <a:prstGeom prst="ellipse">
            <a:avLst/>
          </a:prstGeom>
          <a:solidFill>
            <a:srgbClr val="1E2761"/>
          </a:solidFill>
          <a:ln/>
        </p:spPr>
        <p:txBody>
          <a:bodyPr/>
          <a:lstStyle/>
          <a:p>
            <a:endParaRPr lang="en-US"/>
          </a:p>
        </p:txBody>
      </p:sp>
      <p:sp>
        <p:nvSpPr>
          <p:cNvPr id="8" name="Text 6"/>
          <p:cNvSpPr/>
          <p:nvPr/>
        </p:nvSpPr>
        <p:spPr>
          <a:xfrm>
            <a:off x="3063240" y="118872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2468880" y="1783080"/>
            <a:ext cx="19202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Conduct Sessions</a:t>
            </a:r>
            <a:endParaRPr lang="en-US" sz="1300" dirty="0"/>
          </a:p>
        </p:txBody>
      </p:sp>
      <p:sp>
        <p:nvSpPr>
          <p:cNvPr id="10" name="Text 8"/>
          <p:cNvSpPr/>
          <p:nvPr/>
        </p:nvSpPr>
        <p:spPr>
          <a:xfrm>
            <a:off x="2468880" y="2148840"/>
            <a:ext cx="1920240" cy="54864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Remote hands-on prototype walkthrough via the public web link, followed by an individually-filled questionnaire. Everyone tried the consent flow, a normal chat, the mood tracker and the crisis-banner scenario.</a:t>
            </a:r>
            <a:endParaRPr lang="en-US" sz="1100" dirty="0"/>
          </a:p>
        </p:txBody>
      </p:sp>
      <p:sp>
        <p:nvSpPr>
          <p:cNvPr id="11" name="Shape 9"/>
          <p:cNvSpPr/>
          <p:nvPr/>
        </p:nvSpPr>
        <p:spPr>
          <a:xfrm>
            <a:off x="5257800" y="1188720"/>
            <a:ext cx="457200" cy="457200"/>
          </a:xfrm>
          <a:prstGeom prst="ellipse">
            <a:avLst/>
          </a:prstGeom>
          <a:solidFill>
            <a:srgbClr val="1E2761"/>
          </a:solidFill>
          <a:ln/>
        </p:spPr>
        <p:txBody>
          <a:bodyPr/>
          <a:lstStyle/>
          <a:p>
            <a:endParaRPr lang="en-US"/>
          </a:p>
        </p:txBody>
      </p:sp>
      <p:sp>
        <p:nvSpPr>
          <p:cNvPr id="12" name="Text 10"/>
          <p:cNvSpPr/>
          <p:nvPr/>
        </p:nvSpPr>
        <p:spPr>
          <a:xfrm>
            <a:off x="5257800" y="118872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4663440" y="1783080"/>
            <a:ext cx="19202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Collect Structured Feedback</a:t>
            </a:r>
            <a:endParaRPr lang="en-US" sz="1300" dirty="0"/>
          </a:p>
        </p:txBody>
      </p:sp>
      <p:sp>
        <p:nvSpPr>
          <p:cNvPr id="14" name="Text 12"/>
          <p:cNvSpPr/>
          <p:nvPr/>
        </p:nvSpPr>
        <p:spPr>
          <a:xfrm>
            <a:off x="4663440" y="2148840"/>
            <a:ext cx="1920240" cy="54864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30-question questionnaire covering: usability (Section B), AI output quality (Section C), ethics — privacy, bias, transparency, consent, safety, societal impact (Section D) and overall assessment (Section E).</a:t>
            </a:r>
            <a:endParaRPr lang="en-US" sz="1100" dirty="0"/>
          </a:p>
        </p:txBody>
      </p:sp>
      <p:sp>
        <p:nvSpPr>
          <p:cNvPr id="15" name="Shape 13"/>
          <p:cNvSpPr/>
          <p:nvPr/>
        </p:nvSpPr>
        <p:spPr>
          <a:xfrm>
            <a:off x="7452360" y="1188720"/>
            <a:ext cx="457200" cy="457200"/>
          </a:xfrm>
          <a:prstGeom prst="ellipse">
            <a:avLst/>
          </a:prstGeom>
          <a:solidFill>
            <a:srgbClr val="1E2761"/>
          </a:solidFill>
          <a:ln/>
        </p:spPr>
        <p:txBody>
          <a:bodyPr/>
          <a:lstStyle/>
          <a:p>
            <a:endParaRPr lang="en-US"/>
          </a:p>
        </p:txBody>
      </p:sp>
      <p:sp>
        <p:nvSpPr>
          <p:cNvPr id="16" name="Text 14"/>
          <p:cNvSpPr/>
          <p:nvPr/>
        </p:nvSpPr>
        <p:spPr>
          <a:xfrm>
            <a:off x="7452360" y="118872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6858000" y="1783080"/>
            <a:ext cx="192024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Analyze &amp; Categorize</a:t>
            </a:r>
            <a:endParaRPr lang="en-US" sz="1300" dirty="0"/>
          </a:p>
        </p:txBody>
      </p:sp>
      <p:sp>
        <p:nvSpPr>
          <p:cNvPr id="18" name="Text 16"/>
          <p:cNvSpPr/>
          <p:nvPr/>
        </p:nvSpPr>
        <p:spPr>
          <a:xfrm>
            <a:off x="6858000" y="2148840"/>
            <a:ext cx="1920240" cy="54864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Likert-scale ratings aggregated per section. Free-text answers coded into themes: transparency, accountability, safety escalation, language bias, data control, UI polish.</a:t>
            </a:r>
            <a:endParaRPr lang="en-US" sz="1100" dirty="0"/>
          </a:p>
        </p:txBody>
      </p:sp>
      <p:sp>
        <p:nvSpPr>
          <p:cNvPr id="19" name="Text 17"/>
          <p:cNvSpPr/>
          <p:nvPr/>
        </p:nvSpPr>
        <p:spPr>
          <a:xfrm>
            <a:off x="457200" y="2926080"/>
            <a:ext cx="822960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Respondent Demographics Summary</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Details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Total Respondents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6B728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User Segments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6B7280"/>
                          </a:solidFill>
                          <a:latin typeface="Calibri" pitchFamily="34" charset="0"/>
                          <a:ea typeface="Calibri" pitchFamily="34" charset="-122"/>
                          <a:cs typeface="Calibri" pitchFamily="34" charset="-120"/>
                        </a:rPr>
                        <a:t>IIT Jodhpur UG students. Familiarity with AI: 3 Basic / 6 Intermediate / 1 Advanced.</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Feedback Collection Period</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6B7280"/>
                          </a:solidFill>
                          <a:latin typeface="Calibri" pitchFamily="34" charset="0"/>
                          <a:ea typeface="Calibri" pitchFamily="34" charset="-122"/>
                          <a:cs typeface="Calibri" pitchFamily="34" charset="-120"/>
                        </a:rPr>
                        <a:t>18 April 2026 – 21 April 2026</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6B7280"/>
                          </a:solidFill>
                          <a:latin typeface="Calibri" pitchFamily="34" charset="0"/>
                          <a:ea typeface="Calibri" pitchFamily="34" charset="-122"/>
                          <a:cs typeface="Calibri" pitchFamily="34" charset="-120"/>
                        </a:rPr>
                        <a:t>Remote hands-on web demo (10–20 min) followed by a structured 30-question questionnaire across usability, AI quality and ethics.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Feedback Analysis — Quantitative Results</a:t>
            </a:r>
            <a:endParaRPr lang="en-US" sz="3000" dirty="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Aggregated Likert ratings across N = 10 respondents (scale 1–5):</a:t>
            </a:r>
            <a:endParaRPr lang="en-US" sz="1200" dirty="0"/>
          </a:p>
        </p:txBody>
      </p:sp>
      <p:sp>
        <p:nvSpPr>
          <p:cNvPr id="4" name="Text 2"/>
          <p:cNvSpPr/>
          <p:nvPr/>
        </p:nvSpPr>
        <p:spPr>
          <a:xfrm>
            <a:off x="640080" y="1280160"/>
            <a:ext cx="7315200" cy="274320"/>
          </a:xfrm>
          <a:prstGeom prst="rect">
            <a:avLst/>
          </a:prstGeom>
          <a:noFill/>
          <a:ln/>
        </p:spPr>
        <p:txBody>
          <a:bodyPr wrap="square" lIns="0" tIns="0" rIns="0" bIns="0" rtlCol="0" anchor="ctr"/>
          <a:lstStyle/>
          <a:p>
            <a:pPr marL="0" indent="0">
              <a:buNone/>
            </a:pPr>
            <a:r>
              <a:rPr lang="en-US" sz="1200" dirty="0">
                <a:solidFill>
                  <a:srgbClr val="B85042"/>
                </a:solidFill>
              </a:rPr>
              <a:t>•  Purpose clarity (Q1): 4.4/5  ·  UI rating (Q2): 4.1/5  ·  Likely-to-use (Q5): 4.1/5</a:t>
            </a:r>
            <a:endParaRPr lang="en-US" sz="1200" dirty="0"/>
          </a:p>
        </p:txBody>
      </p:sp>
      <p:sp>
        <p:nvSpPr>
          <p:cNvPr id="5" name="Text 3"/>
          <p:cNvSpPr/>
          <p:nvPr/>
        </p:nvSpPr>
        <p:spPr>
          <a:xfrm>
            <a:off x="640080" y="1600200"/>
            <a:ext cx="7315200" cy="274320"/>
          </a:xfrm>
          <a:prstGeom prst="rect">
            <a:avLst/>
          </a:prstGeom>
          <a:noFill/>
          <a:ln/>
        </p:spPr>
        <p:txBody>
          <a:bodyPr wrap="square" lIns="0" tIns="0" rIns="0" bIns="0" rtlCol="0" anchor="ctr"/>
          <a:lstStyle/>
          <a:p>
            <a:pPr marL="0" indent="0">
              <a:buNone/>
            </a:pPr>
            <a:r>
              <a:rPr lang="en-US" sz="1200" dirty="0">
                <a:solidFill>
                  <a:srgbClr val="B85042"/>
                </a:solidFill>
              </a:rPr>
              <a:t>•  AI accuracy/relevance (Q6): 3.7/5  ·  5 × Accurate, 4 × Mixed, 1 × Very Accurate</a:t>
            </a:r>
            <a:endParaRPr lang="en-US" sz="1200" dirty="0"/>
          </a:p>
        </p:txBody>
      </p:sp>
      <p:sp>
        <p:nvSpPr>
          <p:cNvPr id="6" name="Text 4"/>
          <p:cNvSpPr/>
          <p:nvPr/>
        </p:nvSpPr>
        <p:spPr>
          <a:xfrm>
            <a:off x="640080" y="1920240"/>
            <a:ext cx="7315200" cy="274320"/>
          </a:xfrm>
          <a:prstGeom prst="rect">
            <a:avLst/>
          </a:prstGeom>
          <a:noFill/>
          <a:ln/>
        </p:spPr>
        <p:txBody>
          <a:bodyPr wrap="square" lIns="0" tIns="0" rIns="0" bIns="0" rtlCol="0" anchor="ctr"/>
          <a:lstStyle/>
          <a:p>
            <a:pPr marL="0" indent="0">
              <a:buNone/>
            </a:pPr>
            <a:r>
              <a:rPr lang="en-US" sz="1200" dirty="0">
                <a:solidFill>
                  <a:srgbClr val="B85042"/>
                </a:solidFill>
              </a:rPr>
              <a:t>•  Ethical responsibility (Q28): 3.7/5  ·  7 × Responsible, 3 × Neutral, 0 × Irresponsible</a:t>
            </a:r>
            <a:endParaRPr lang="en-US" sz="1200" dirty="0"/>
          </a:p>
        </p:txBody>
      </p:sp>
      <p:sp>
        <p:nvSpPr>
          <p:cNvPr id="7" name="Text 5"/>
          <p:cNvSpPr/>
          <p:nvPr/>
        </p:nvSpPr>
        <p:spPr>
          <a:xfrm>
            <a:off x="640080" y="2240280"/>
            <a:ext cx="7315200" cy="274320"/>
          </a:xfrm>
          <a:prstGeom prst="rect">
            <a:avLst/>
          </a:prstGeom>
          <a:noFill/>
          <a:ln/>
        </p:spPr>
        <p:txBody>
          <a:bodyPr wrap="square" lIns="0" tIns="0" rIns="0" bIns="0" rtlCol="0" anchor="ctr"/>
          <a:lstStyle/>
          <a:p>
            <a:pPr marL="0" indent="0">
              <a:buNone/>
            </a:pPr>
            <a:r>
              <a:rPr lang="en-US" sz="1200" dirty="0">
                <a:solidFill>
                  <a:srgbClr val="B85042"/>
                </a:solidFill>
              </a:rPr>
              <a:t>•  Data comfort (Q11): 3.8/5  ·  Control over own data (Q22): 2.7/5 ← 2nd lowest</a:t>
            </a:r>
            <a:endParaRPr lang="en-US" sz="1200" dirty="0"/>
          </a:p>
        </p:txBody>
      </p:sp>
      <p:sp>
        <p:nvSpPr>
          <p:cNvPr id="8" name="Text 6"/>
          <p:cNvSpPr/>
          <p:nvPr/>
        </p:nvSpPr>
        <p:spPr>
          <a:xfrm>
            <a:off x="640080" y="2560320"/>
            <a:ext cx="7315200" cy="274320"/>
          </a:xfrm>
          <a:prstGeom prst="rect">
            <a:avLst/>
          </a:prstGeom>
          <a:noFill/>
          <a:ln/>
        </p:spPr>
        <p:txBody>
          <a:bodyPr wrap="square" lIns="0" tIns="0" rIns="0" bIns="0" rtlCol="0" anchor="ctr"/>
          <a:lstStyle/>
          <a:p>
            <a:pPr marL="0" indent="0">
              <a:buNone/>
            </a:pPr>
            <a:r>
              <a:rPr lang="en-US" sz="1200" dirty="0">
                <a:solidFill>
                  <a:srgbClr val="B85042"/>
                </a:solidFill>
              </a:rPr>
              <a:t>•  Fairness confidence (Q16): 3.5/5  ·  Explainability (Q8): 2.3/5 ← LOWEST</a:t>
            </a:r>
            <a:endParaRPr lang="en-US" sz="1200" dirty="0"/>
          </a:p>
        </p:txBody>
      </p:sp>
      <p:sp>
        <p:nvSpPr>
          <p:cNvPr id="9" name="Shape 7"/>
          <p:cNvSpPr/>
          <p:nvPr/>
        </p:nvSpPr>
        <p:spPr>
          <a:xfrm>
            <a:off x="457200" y="3017520"/>
            <a:ext cx="8229600" cy="1828800"/>
          </a:xfrm>
          <a:prstGeom prst="rect">
            <a:avLst/>
          </a:prstGeom>
          <a:solidFill>
            <a:srgbClr val="F5F7FA"/>
          </a:solidFill>
          <a:ln w="12700">
            <a:solidFill>
              <a:srgbClr val="CCCCCC"/>
            </a:solidFill>
            <a:prstDash val="dash"/>
          </a:ln>
        </p:spPr>
        <p:txBody>
          <a:bodyPr/>
          <a:lstStyle/>
          <a:p>
            <a:endParaRPr lang="en-US"/>
          </a:p>
        </p:txBody>
      </p:sp>
      <p:sp>
        <p:nvSpPr>
          <p:cNvPr id="10" name="Text 8"/>
          <p:cNvSpPr/>
          <p:nvPr/>
        </p:nvSpPr>
        <p:spPr>
          <a:xfrm>
            <a:off x="457200" y="3657600"/>
            <a:ext cx="8229600" cy="457200"/>
          </a:xfrm>
          <a:prstGeom prst="rect">
            <a:avLst/>
          </a:prstGeom>
          <a:noFill/>
          <a:ln/>
        </p:spPr>
        <p:txBody>
          <a:bodyPr wrap="square"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Key takeaway: users trust the concept and interface, but explainability (2.3/5) and data control (2.7/5) are the two clear weak spots driving our iterations.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Feedback Analysis — Qualitative Themes</a:t>
            </a:r>
            <a:endParaRPr lang="en-US" sz="30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Summarize the recurring themes from open-ended responses. Group by category.</a:t>
            </a:r>
            <a:endParaRPr lang="en-US" sz="1200" dirty="0"/>
          </a:p>
        </p:txBody>
      </p:sp>
      <p:sp>
        <p:nvSpPr>
          <p:cNvPr id="4" name="Shape 2"/>
          <p:cNvSpPr/>
          <p:nvPr/>
        </p:nvSpPr>
        <p:spPr>
          <a:xfrm>
            <a:off x="457200" y="1280160"/>
            <a:ext cx="8229600" cy="594360"/>
          </a:xfrm>
          <a:prstGeom prst="rect">
            <a:avLst/>
          </a:prstGeom>
          <a:solidFill>
            <a:srgbClr val="F5F7FA"/>
          </a:solidFill>
          <a:ln/>
        </p:spPr>
        <p:txBody>
          <a:bodyPr/>
          <a:lstStyle/>
          <a:p>
            <a:endParaRPr lang="en-US"/>
          </a:p>
        </p:txBody>
      </p:sp>
      <p:sp>
        <p:nvSpPr>
          <p:cNvPr id="5" name="Text 3"/>
          <p:cNvSpPr/>
          <p:nvPr/>
        </p:nvSpPr>
        <p:spPr>
          <a:xfrm>
            <a:off x="640080" y="1325880"/>
            <a:ext cx="2286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Usability Issues</a:t>
            </a:r>
            <a:endParaRPr lang="en-US" sz="1300" dirty="0"/>
          </a:p>
        </p:txBody>
      </p:sp>
      <p:sp>
        <p:nvSpPr>
          <p:cNvPr id="6" name="Text 4"/>
          <p:cNvSpPr/>
          <p:nvPr/>
        </p:nvSpPr>
        <p:spPr>
          <a:xfrm>
            <a:off x="3017520" y="1325880"/>
            <a:ext cx="5486400" cy="5029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2/10 (Tejas, Avichal) noted slow response loading. 1/10 (Ishaan) found mood history hard to locate at first. 1/10 (Tejas) felt the UI was a bit plain and would hurt trust.</a:t>
            </a:r>
            <a:endParaRPr lang="en-US" sz="1100" dirty="0"/>
          </a:p>
        </p:txBody>
      </p:sp>
      <p:sp>
        <p:nvSpPr>
          <p:cNvPr id="7" name="Shape 5"/>
          <p:cNvSpPr/>
          <p:nvPr/>
        </p:nvSpPr>
        <p:spPr>
          <a:xfrm>
            <a:off x="457200" y="1993392"/>
            <a:ext cx="8229600" cy="594360"/>
          </a:xfrm>
          <a:prstGeom prst="rect">
            <a:avLst/>
          </a:prstGeom>
          <a:solidFill>
            <a:srgbClr val="FFFFFF"/>
          </a:solidFill>
          <a:ln/>
        </p:spPr>
        <p:txBody>
          <a:bodyPr/>
          <a:lstStyle/>
          <a:p>
            <a:endParaRPr lang="en-US"/>
          </a:p>
        </p:txBody>
      </p:sp>
      <p:sp>
        <p:nvSpPr>
          <p:cNvPr id="8" name="Text 6"/>
          <p:cNvSpPr/>
          <p:nvPr/>
        </p:nvSpPr>
        <p:spPr>
          <a:xfrm>
            <a:off x="640080" y="2039112"/>
            <a:ext cx="2286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AI Output Quality</a:t>
            </a:r>
            <a:endParaRPr lang="en-US" sz="1300" dirty="0"/>
          </a:p>
        </p:txBody>
      </p:sp>
      <p:sp>
        <p:nvSpPr>
          <p:cNvPr id="9" name="Text 7"/>
          <p:cNvSpPr/>
          <p:nvPr/>
        </p:nvSpPr>
        <p:spPr>
          <a:xfrm>
            <a:off x="3017520" y="2039112"/>
            <a:ext cx="5486400" cy="5029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2/10 (Deekshant, Maulik) got a reply that felt tone-deaf / dismissive of a serious concern. 2/10 (Om, Amey) said replies were occasionally generic or templated. 1/10 (Maulik) flagged minor hallucination (advice not matching emotional context).</a:t>
            </a:r>
            <a:endParaRPr lang="en-US" sz="1100" dirty="0"/>
          </a:p>
        </p:txBody>
      </p:sp>
      <p:sp>
        <p:nvSpPr>
          <p:cNvPr id="10" name="Shape 8"/>
          <p:cNvSpPr/>
          <p:nvPr/>
        </p:nvSpPr>
        <p:spPr>
          <a:xfrm>
            <a:off x="457200" y="2706624"/>
            <a:ext cx="8229600" cy="594360"/>
          </a:xfrm>
          <a:prstGeom prst="rect">
            <a:avLst/>
          </a:prstGeom>
          <a:solidFill>
            <a:srgbClr val="F5F7FA"/>
          </a:solidFill>
          <a:ln/>
        </p:spPr>
        <p:txBody>
          <a:bodyPr/>
          <a:lstStyle/>
          <a:p>
            <a:endParaRPr lang="en-US"/>
          </a:p>
        </p:txBody>
      </p:sp>
      <p:sp>
        <p:nvSpPr>
          <p:cNvPr id="11" name="Text 9"/>
          <p:cNvSpPr/>
          <p:nvPr/>
        </p:nvSpPr>
        <p:spPr>
          <a:xfrm>
            <a:off x="640080" y="2752344"/>
            <a:ext cx="2286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Ethical Concerns Raised</a:t>
            </a:r>
            <a:endParaRPr lang="en-US" sz="1300" dirty="0"/>
          </a:p>
        </p:txBody>
      </p:sp>
      <p:sp>
        <p:nvSpPr>
          <p:cNvPr id="12" name="Text 10"/>
          <p:cNvSpPr/>
          <p:nvPr/>
        </p:nvSpPr>
        <p:spPr>
          <a:xfrm>
            <a:off x="3017520" y="2752344"/>
            <a:ext cx="5486400" cy="5029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8/10 said there was no way to report a bad AI response (Q18). 7/10 could not distinguish AI-generated from scripted replies (Q17). 5/10 said English-only / Western framing creates cultural-fit gaps. 4/10 wanted privacy disclaimers repeated mid-chat, not only at start.</a:t>
            </a:r>
            <a:endParaRPr lang="en-US" sz="1100" dirty="0"/>
          </a:p>
        </p:txBody>
      </p:sp>
      <p:sp>
        <p:nvSpPr>
          <p:cNvPr id="13" name="Shape 11"/>
          <p:cNvSpPr/>
          <p:nvPr/>
        </p:nvSpPr>
        <p:spPr>
          <a:xfrm>
            <a:off x="457200" y="3419856"/>
            <a:ext cx="8229600" cy="594360"/>
          </a:xfrm>
          <a:prstGeom prst="rect">
            <a:avLst/>
          </a:prstGeom>
          <a:solidFill>
            <a:srgbClr val="FFFFFF"/>
          </a:solidFill>
          <a:ln/>
        </p:spPr>
        <p:txBody>
          <a:bodyPr/>
          <a:lstStyle/>
          <a:p>
            <a:endParaRPr lang="en-US"/>
          </a:p>
        </p:txBody>
      </p:sp>
      <p:sp>
        <p:nvSpPr>
          <p:cNvPr id="14" name="Text 12"/>
          <p:cNvSpPr/>
          <p:nvPr/>
        </p:nvSpPr>
        <p:spPr>
          <a:xfrm>
            <a:off x="640080" y="3465576"/>
            <a:ext cx="2286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Feature Requests</a:t>
            </a:r>
            <a:endParaRPr lang="en-US" sz="1300" dirty="0"/>
          </a:p>
        </p:txBody>
      </p:sp>
      <p:sp>
        <p:nvSpPr>
          <p:cNvPr id="15" name="Text 13"/>
          <p:cNvSpPr/>
          <p:nvPr/>
        </p:nvSpPr>
        <p:spPr>
          <a:xfrm>
            <a:off x="3017520" y="3465576"/>
            <a:ext cx="5486400" cy="5029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2/10 (Ankit, Deekshant) asked for Hindi / regional language support. 2/10 (Ishaan, Tejas, Avichal) wanted multi-session mood trends / session history. 1/10 (Amey) asked for an in-app rating of each response.</a:t>
            </a:r>
            <a:endParaRPr lang="en-US" sz="1100" dirty="0"/>
          </a:p>
        </p:txBody>
      </p:sp>
      <p:sp>
        <p:nvSpPr>
          <p:cNvPr id="16" name="Shape 14"/>
          <p:cNvSpPr/>
          <p:nvPr/>
        </p:nvSpPr>
        <p:spPr>
          <a:xfrm>
            <a:off x="457200" y="4133088"/>
            <a:ext cx="8229600" cy="594360"/>
          </a:xfrm>
          <a:prstGeom prst="rect">
            <a:avLst/>
          </a:prstGeom>
          <a:solidFill>
            <a:srgbClr val="F5F7FA"/>
          </a:solidFill>
          <a:ln/>
        </p:spPr>
        <p:txBody>
          <a:bodyPr/>
          <a:lstStyle/>
          <a:p>
            <a:endParaRPr lang="en-US"/>
          </a:p>
        </p:txBody>
      </p:sp>
      <p:sp>
        <p:nvSpPr>
          <p:cNvPr id="17" name="Text 15"/>
          <p:cNvSpPr/>
          <p:nvPr/>
        </p:nvSpPr>
        <p:spPr>
          <a:xfrm>
            <a:off x="640080" y="4178808"/>
            <a:ext cx="2286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Positive Feedback</a:t>
            </a:r>
            <a:endParaRPr lang="en-US" sz="1300" dirty="0"/>
          </a:p>
        </p:txBody>
      </p:sp>
      <p:sp>
        <p:nvSpPr>
          <p:cNvPr id="18" name="Text 16"/>
          <p:cNvSpPr/>
          <p:nvPr/>
        </p:nvSpPr>
        <p:spPr>
          <a:xfrm>
            <a:off x="3017520" y="4178808"/>
            <a:ext cx="5486400" cy="5029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10/10 found the core concept valuable. 8/10 rated UI Good or Excellent. 8/10 rated the app ethically Responsible. 9/10 said they would likely use it if fully developed. Multiple respondents singled out the empathetic, non-judgmental tone as a real strength.</a:t>
            </a:r>
            <a:endParaRPr lang="en-US" sz="1100" dirty="0"/>
          </a:p>
        </p:txBody>
      </p:sp>
      <p:sp>
        <p:nvSpPr>
          <p:cNvPr id="19" name="Text 17"/>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Use exact respondent counts (e.g., 8/12) rather than vague terms like “many” or “some.”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Ethical Issues Identified from Feedback</a:t>
            </a:r>
            <a:endParaRPr lang="en-US" sz="26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This is the most heavily weighted section. Present each ethical issue with evidence from feedback.</a:t>
            </a:r>
            <a:endParaRPr lang="en-US" sz="1200" dirty="0"/>
          </a:p>
        </p:txBody>
      </p:sp>
      <p:pic>
        <p:nvPicPr>
          <p:cNvPr id="4" name="Image 0" descr="preencoded.png"/>
          <p:cNvPicPr>
            <a:picLocks noChangeAspect="1"/>
          </p:cNvPicPr>
          <p:nvPr/>
        </p:nvPicPr>
        <p:blipFill>
          <a:blip r:embed="rId3"/>
          <a:stretch>
            <a:fillRect/>
          </a:stretch>
        </p:blipFill>
        <p:spPr>
          <a:xfrm>
            <a:off x="457200" y="1143000"/>
            <a:ext cx="274320" cy="274320"/>
          </a:xfrm>
          <a:prstGeom prst="rect">
            <a:avLst/>
          </a:prstGeom>
        </p:spPr>
      </p:pic>
      <p:sp>
        <p:nvSpPr>
          <p:cNvPr id="5" name="Text 2"/>
          <p:cNvSpPr/>
          <p:nvPr/>
        </p:nvSpPr>
        <p:spPr>
          <a:xfrm>
            <a:off x="914400" y="1097280"/>
            <a:ext cx="77724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Issue 1: Lack of Explainability of AI Decisions</a:t>
            </a:r>
            <a:endParaRPr lang="en-US" sz="1400" dirty="0"/>
          </a:p>
        </p:txBody>
      </p:sp>
      <p:sp>
        <p:nvSpPr>
          <p:cNvPr id="6" name="Text 3"/>
          <p:cNvSpPr/>
          <p:nvPr/>
        </p:nvSpPr>
        <p:spPr>
          <a:xfrm>
            <a:off x="914400" y="1389888"/>
            <a:ext cx="77724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Evidence: Q8 explainability averaged 2.3/5 (lowest of all ratings). 8/10 rated it Poor. 7/10 (Q17) could not tell AI-generated from scripted replies. No in-app "why this response" path existed.</a:t>
            </a:r>
            <a:endParaRPr lang="en-US" sz="1100" dirty="0"/>
          </a:p>
        </p:txBody>
      </p:sp>
      <p:pic>
        <p:nvPicPr>
          <p:cNvPr id="7" name="Image 1" descr="preencoded.png"/>
          <p:cNvPicPr>
            <a:picLocks noChangeAspect="1"/>
          </p:cNvPicPr>
          <p:nvPr/>
        </p:nvPicPr>
        <p:blipFill>
          <a:blip r:embed="rId3"/>
          <a:stretch>
            <a:fillRect/>
          </a:stretch>
        </p:blipFill>
        <p:spPr>
          <a:xfrm>
            <a:off x="457200" y="1892808"/>
            <a:ext cx="274320" cy="274320"/>
          </a:xfrm>
          <a:prstGeom prst="rect">
            <a:avLst/>
          </a:prstGeom>
        </p:spPr>
      </p:pic>
      <p:sp>
        <p:nvSpPr>
          <p:cNvPr id="8" name="Text 4"/>
          <p:cNvSpPr/>
          <p:nvPr/>
        </p:nvSpPr>
        <p:spPr>
          <a:xfrm>
            <a:off x="914400" y="1847088"/>
            <a:ext cx="77724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Issue 2: No Error-Reporting / Accountability Mechanism</a:t>
            </a:r>
            <a:endParaRPr lang="en-US" sz="1400" dirty="0"/>
          </a:p>
        </p:txBody>
      </p:sp>
      <p:sp>
        <p:nvSpPr>
          <p:cNvPr id="9" name="Text 5"/>
          <p:cNvSpPr/>
          <p:nvPr/>
        </p:nvSpPr>
        <p:spPr>
          <a:xfrm>
            <a:off x="914400" y="2139696"/>
            <a:ext cx="77724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Evidence: 8/10 said there was no way to flag a bad response (Q18). 2/10 (Deekshant, Maulik) described a specific tone-deaf reply they had no way to report. Amey explicitly asked for a response-rating feature.</a:t>
            </a:r>
            <a:endParaRPr lang="en-US" sz="1100" dirty="0"/>
          </a:p>
        </p:txBody>
      </p:sp>
      <p:pic>
        <p:nvPicPr>
          <p:cNvPr id="10" name="Image 2" descr="preencoded.png"/>
          <p:cNvPicPr>
            <a:picLocks noChangeAspect="1"/>
          </p:cNvPicPr>
          <p:nvPr/>
        </p:nvPicPr>
        <p:blipFill>
          <a:blip r:embed="rId3"/>
          <a:stretch>
            <a:fillRect/>
          </a:stretch>
        </p:blipFill>
        <p:spPr>
          <a:xfrm>
            <a:off x="457200" y="2642616"/>
            <a:ext cx="274320" cy="274320"/>
          </a:xfrm>
          <a:prstGeom prst="rect">
            <a:avLst/>
          </a:prstGeom>
        </p:spPr>
      </p:pic>
      <p:sp>
        <p:nvSpPr>
          <p:cNvPr id="11" name="Text 6"/>
          <p:cNvSpPr/>
          <p:nvPr/>
        </p:nvSpPr>
        <p:spPr>
          <a:xfrm>
            <a:off x="914400" y="2596896"/>
            <a:ext cx="77724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Issue 3: Insufficient Safety Escalation for Vulnerable Users</a:t>
            </a:r>
            <a:endParaRPr lang="en-US" sz="1400" dirty="0"/>
          </a:p>
        </p:txBody>
      </p:sp>
      <p:sp>
        <p:nvSpPr>
          <p:cNvPr id="12" name="Text 7"/>
          <p:cNvSpPr/>
          <p:nvPr/>
        </p:nvSpPr>
        <p:spPr>
          <a:xfrm>
            <a:off x="914400" y="2889504"/>
            <a:ext cx="77724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Evidence: 7/10 chose crisis-escalation as the single most important ethical improvement (Q29). 10/10 named users in acute distress / severe mental illness as most at risk (Q25). "False reassurance" was the most-cited harm scenario.</a:t>
            </a:r>
            <a:endParaRPr lang="en-US" sz="1100" dirty="0"/>
          </a:p>
        </p:txBody>
      </p:sp>
      <p:pic>
        <p:nvPicPr>
          <p:cNvPr id="13" name="Image 3" descr="preencoded.png"/>
          <p:cNvPicPr>
            <a:picLocks noChangeAspect="1"/>
          </p:cNvPicPr>
          <p:nvPr/>
        </p:nvPicPr>
        <p:blipFill>
          <a:blip r:embed="rId3"/>
          <a:stretch>
            <a:fillRect/>
          </a:stretch>
        </p:blipFill>
        <p:spPr>
          <a:xfrm>
            <a:off x="457200" y="3392424"/>
            <a:ext cx="274320" cy="274320"/>
          </a:xfrm>
          <a:prstGeom prst="rect">
            <a:avLst/>
          </a:prstGeom>
        </p:spPr>
      </p:pic>
      <p:sp>
        <p:nvSpPr>
          <p:cNvPr id="14" name="Text 8"/>
          <p:cNvSpPr/>
          <p:nvPr/>
        </p:nvSpPr>
        <p:spPr>
          <a:xfrm>
            <a:off x="914400" y="3346704"/>
            <a:ext cx="77724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Issue 4: Language and Cultural Bias</a:t>
            </a:r>
            <a:endParaRPr lang="en-US" sz="1400" dirty="0"/>
          </a:p>
        </p:txBody>
      </p:sp>
      <p:sp>
        <p:nvSpPr>
          <p:cNvPr id="15" name="Text 9"/>
          <p:cNvSpPr/>
          <p:nvPr/>
        </p:nvSpPr>
        <p:spPr>
          <a:xfrm>
            <a:off x="914400" y="3639312"/>
            <a:ext cx="77724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Evidence: 5/10 (Om, Deekshant, Maulik, Tejas, Ankit) noted English-only or Western-centric framing creates equity gaps. Fairness confidence (Q16) averaged only 3.5/5. Ankit explicitly asked for Hindi support.</a:t>
            </a:r>
            <a:endParaRPr lang="en-US" sz="1100" dirty="0"/>
          </a:p>
        </p:txBody>
      </p:sp>
      <p:pic>
        <p:nvPicPr>
          <p:cNvPr id="16" name="Image 4" descr="preencoded.png"/>
          <p:cNvPicPr>
            <a:picLocks noChangeAspect="1"/>
          </p:cNvPicPr>
          <p:nvPr/>
        </p:nvPicPr>
        <p:blipFill>
          <a:blip r:embed="rId3"/>
          <a:stretch>
            <a:fillRect/>
          </a:stretch>
        </p:blipFill>
        <p:spPr>
          <a:xfrm>
            <a:off x="457200" y="4142232"/>
            <a:ext cx="274320" cy="274320"/>
          </a:xfrm>
          <a:prstGeom prst="rect">
            <a:avLst/>
          </a:prstGeom>
        </p:spPr>
      </p:pic>
      <p:sp>
        <p:nvSpPr>
          <p:cNvPr id="17" name="Text 10"/>
          <p:cNvSpPr/>
          <p:nvPr/>
        </p:nvSpPr>
        <p:spPr>
          <a:xfrm>
            <a:off x="914400" y="4096512"/>
            <a:ext cx="77724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Issue 5: Weak Consent Depth &amp; Data Control</a:t>
            </a:r>
            <a:endParaRPr lang="en-US" sz="1400" dirty="0"/>
          </a:p>
        </p:txBody>
      </p:sp>
      <p:sp>
        <p:nvSpPr>
          <p:cNvPr id="18" name="Text 11"/>
          <p:cNvSpPr/>
          <p:nvPr/>
        </p:nvSpPr>
        <p:spPr>
          <a:xfrm>
            <a:off x="914400" y="4389120"/>
            <a:ext cx="7772400" cy="32004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Evidence: Control over own data (Q22) averaged only 2.7/5 (2nd lowest rating). 4/10 said the start-of-session disclaimer is not enough and wanted a fuller, repeated policy. Maulik called the one-time pop-up "not truly informed consent."</a:t>
            </a:r>
            <a:endParaRPr lang="en-US" sz="1100" dirty="0"/>
          </a:p>
        </p:txBody>
      </p:sp>
      <p:sp>
        <p:nvSpPr>
          <p:cNvPr id="19" name="Text 12"/>
          <p:cNvSpPr/>
          <p:nvPr/>
        </p:nvSpPr>
        <p:spPr>
          <a:xfrm>
            <a:off x="457200" y="4709160"/>
            <a:ext cx="8229600" cy="27432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These 5 issues map directly to the rows on the next slide — each has a concrete change shipped in the final prototype.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Iterations &amp; Ethical Improvements</a:t>
            </a:r>
            <a:endParaRPr lang="en-US" sz="30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Show the direct link between feedback → identified issue → change made → outcome.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Ethical Issue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Feedback Evidence</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Change Implemented</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Verification</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94360">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Lack of AI transparency / explainability</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Q8 averaged 2.3/5; 8/10 rated Poor. 7/10 could not tell AI vs scripted (Q17).</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Every bot reply now shows a "🌊 Sahara · AI peer listener · not a therapist" label and an ℹ️ "Why this response?" popup explaining model + context used.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Visible on every bot reply in final prototype; tested by team.</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No way to report a bad AI response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8/10 said no mechanism exists (Q18). 2/10 had a specific tone-deaf reply they could not flag.</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Added 🚩 flag button on every bot message, POST /report endpoint logs flagged replies for review.</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Live-testable in demo — 🚩 turns to ✓ on click.</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Weak disclaimer + crisis escalation</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7/10 said crisis escalation is the top improvement (Q29); 4/10 wanted periodic disclaimers (Q19).</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Promoted "📞 Talk to Counselor" button to solid primary colour; auto-show AI-disclaimer reminder toast every 5 messages mid-chat.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Reminder now fires inside the conversation, not only at session start.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Shallow consent + data control</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Q22 control averaged 2.7/5. 4/10 wanted fuller policy. Maulik: "one-time pop-up, not truly informed."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Tightened consent-modal text — explicitly states session-only data, no identifiers, and the 🗑️ reset button; reset remains one-click.</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6B7280"/>
                          </a:solidFill>
                          <a:latin typeface="Calibri" pitchFamily="34" charset="0"/>
                          <a:ea typeface="Calibri" pitchFamily="34" charset="-122"/>
                          <a:cs typeface="Calibri" pitchFamily="34" charset="-120"/>
                        </a:rPr>
                        <a:t>Consent screen re-reviewed with team pre-demo.</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Add more rows as needed. Each ethical issue from Slide 10 should appear here with its resolution.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Before &amp; After: Ethical Improvements</a:t>
            </a:r>
            <a:endParaRPr lang="en-US" sz="3000" dirty="0"/>
          </a:p>
        </p:txBody>
      </p:sp>
      <p:sp>
        <p:nvSpPr>
          <p:cNvPr id="3" name="Shape 1"/>
          <p:cNvSpPr/>
          <p:nvPr/>
        </p:nvSpPr>
        <p:spPr>
          <a:xfrm>
            <a:off x="457200" y="1005840"/>
            <a:ext cx="3840480" cy="457200"/>
          </a:xfrm>
          <a:prstGeom prst="rect">
            <a:avLst/>
          </a:prstGeom>
          <a:solidFill>
            <a:srgbClr val="B85042"/>
          </a:solidFill>
          <a:ln/>
        </p:spPr>
        <p:txBody>
          <a:bodyPr/>
          <a:lstStyle/>
          <a:p>
            <a:endParaRPr lang="en-US"/>
          </a:p>
        </p:txBody>
      </p:sp>
      <p:sp>
        <p:nvSpPr>
          <p:cNvPr id="4" name="Text 2"/>
          <p:cNvSpPr/>
          <p:nvPr/>
        </p:nvSpPr>
        <p:spPr>
          <a:xfrm>
            <a:off x="457200" y="1005840"/>
            <a:ext cx="384048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BEFORE (Initial Prototype)</a:t>
            </a:r>
            <a:endParaRPr lang="en-US" sz="1400" dirty="0"/>
          </a:p>
        </p:txBody>
      </p:sp>
      <p:sp>
        <p:nvSpPr>
          <p:cNvPr id="5" name="Shape 3"/>
          <p:cNvSpPr/>
          <p:nvPr/>
        </p:nvSpPr>
        <p:spPr>
          <a:xfrm>
            <a:off x="457200" y="1554480"/>
            <a:ext cx="3840480" cy="2926080"/>
          </a:xfrm>
          <a:prstGeom prst="rect">
            <a:avLst/>
          </a:prstGeom>
          <a:solidFill>
            <a:srgbClr val="F5F7FA"/>
          </a:solidFill>
          <a:ln w="12700">
            <a:solidFill>
              <a:srgbClr val="CCCCCC"/>
            </a:solidFill>
            <a:prstDash val="dash"/>
          </a:ln>
        </p:spPr>
        <p:txBody>
          <a:bodyPr/>
          <a:lstStyle/>
          <a:p>
            <a:endParaRPr lang="en-US"/>
          </a:p>
        </p:txBody>
      </p:sp>
      <p:sp>
        <p:nvSpPr>
          <p:cNvPr id="6" name="Text 4"/>
          <p:cNvSpPr/>
          <p:nvPr/>
        </p:nvSpPr>
        <p:spPr>
          <a:xfrm>
            <a:off x="640080" y="2286000"/>
            <a:ext cx="3474720" cy="91440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BEFORE: One start-of-session disclaimer. Bot replies had no AI label. No way to flag an unhelpful reply. "Talk to Counselor" was a faint outline button in the nav. Consent modal text was short. No inline explainability.</a:t>
            </a:r>
            <a:endParaRPr lang="en-US" sz="1200" dirty="0"/>
          </a:p>
        </p:txBody>
      </p:sp>
      <p:sp>
        <p:nvSpPr>
          <p:cNvPr id="7" name="Shape 5"/>
          <p:cNvSpPr/>
          <p:nvPr/>
        </p:nvSpPr>
        <p:spPr>
          <a:xfrm>
            <a:off x="4846320" y="1005840"/>
            <a:ext cx="3840480" cy="457200"/>
          </a:xfrm>
          <a:prstGeom prst="rect">
            <a:avLst/>
          </a:prstGeom>
          <a:solidFill>
            <a:srgbClr val="84B59F"/>
          </a:solidFill>
          <a:ln/>
        </p:spPr>
        <p:txBody>
          <a:bodyPr/>
          <a:lstStyle/>
          <a:p>
            <a:endParaRPr lang="en-US"/>
          </a:p>
        </p:txBody>
      </p:sp>
      <p:sp>
        <p:nvSpPr>
          <p:cNvPr id="8" name="Text 6"/>
          <p:cNvSpPr/>
          <p:nvPr/>
        </p:nvSpPr>
        <p:spPr>
          <a:xfrm>
            <a:off x="4846320" y="1005840"/>
            <a:ext cx="384048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AFTER (Final Prototype)</a:t>
            </a:r>
            <a:endParaRPr lang="en-US" sz="1400" dirty="0"/>
          </a:p>
        </p:txBody>
      </p:sp>
      <p:sp>
        <p:nvSpPr>
          <p:cNvPr id="9" name="Shape 7"/>
          <p:cNvSpPr/>
          <p:nvPr/>
        </p:nvSpPr>
        <p:spPr>
          <a:xfrm>
            <a:off x="4846320" y="1554480"/>
            <a:ext cx="3840480" cy="2926080"/>
          </a:xfrm>
          <a:prstGeom prst="rect">
            <a:avLst/>
          </a:prstGeom>
          <a:solidFill>
            <a:srgbClr val="F5F7FA"/>
          </a:solidFill>
          <a:ln w="12700">
            <a:solidFill>
              <a:srgbClr val="CCCCCC"/>
            </a:solidFill>
            <a:prstDash val="dash"/>
          </a:ln>
        </p:spPr>
        <p:txBody>
          <a:bodyPr/>
          <a:lstStyle/>
          <a:p>
            <a:endParaRPr lang="en-US"/>
          </a:p>
        </p:txBody>
      </p:sp>
      <p:sp>
        <p:nvSpPr>
          <p:cNvPr id="10" name="Text 8"/>
          <p:cNvSpPr/>
          <p:nvPr/>
        </p:nvSpPr>
        <p:spPr>
          <a:xfrm>
            <a:off x="5029200" y="2286000"/>
            <a:ext cx="3474720" cy="91440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AFTER: Every bot reply shows "🌊 Sahara · AI peer listener · not a therapist" with 🚩 Report and ℹ️ Why this response? buttons. Disclaimer reminder toast auto-appears every 5 messages. Talk to Counselor is now a solid, shadowed primary-colour button. Consent modal explicitly states session-only + no identifiers + 🗑️ reset.</a:t>
            </a:r>
            <a:endParaRPr lang="en-US" sz="1200" dirty="0"/>
          </a:p>
        </p:txBody>
      </p:sp>
      <p:sp>
        <p:nvSpPr>
          <p:cNvPr id="11" name="Text 9"/>
          <p:cNvSpPr/>
          <p:nvPr/>
        </p:nvSpPr>
        <p:spPr>
          <a:xfrm>
            <a:off x="457200" y="4572000"/>
            <a:ext cx="8229600" cy="365760"/>
          </a:xfrm>
          <a:prstGeom prst="rect">
            <a:avLst/>
          </a:prstGeom>
          <a:noFill/>
          <a:ln/>
        </p:spPr>
        <p:txBody>
          <a:bodyPr wrap="square" lIns="0" tIns="0" rIns="0" bIns="0" rtlCol="0" anchor="ctr"/>
          <a:lstStyle/>
          <a:p>
            <a:pPr marL="0" indent="0">
              <a:buNone/>
            </a:pPr>
            <a:r>
              <a:rPr lang="en-US" sz="1000" dirty="0">
                <a:solidFill>
                  <a:srgbClr val="B85042"/>
                </a:solidFill>
                <a:latin typeface="Calibri" pitchFamily="34" charset="0"/>
                <a:ea typeface="Calibri" pitchFamily="34" charset="-122"/>
                <a:cs typeface="Calibri" pitchFamily="34" charset="-120"/>
              </a:rPr>
              <a:t>Visual before/after comparisons are highly effective. Use actual screenshots.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Final Prototype Demonstration</a:t>
            </a:r>
            <a:endParaRPr lang="en-US" sz="3000" dirty="0"/>
          </a:p>
        </p:txBody>
      </p:sp>
      <p:sp>
        <p:nvSpPr>
          <p:cNvPr id="3" name="Shape 1"/>
          <p:cNvSpPr/>
          <p:nvPr/>
        </p:nvSpPr>
        <p:spPr>
          <a:xfrm>
            <a:off x="457200" y="1097280"/>
            <a:ext cx="8229600" cy="3200400"/>
          </a:xfrm>
          <a:prstGeom prst="rect">
            <a:avLst/>
          </a:prstGeom>
          <a:solidFill>
            <a:srgbClr val="F5F7FA"/>
          </a:solidFill>
          <a:ln w="12700">
            <a:solidFill>
              <a:srgbClr val="CCCCCC"/>
            </a:solidFill>
            <a:prstDash val="dash"/>
          </a:ln>
        </p:spPr>
        <p:txBody>
          <a:bodyPr/>
          <a:lstStyle/>
          <a:p>
            <a:endParaRPr lang="en-US"/>
          </a:p>
        </p:txBody>
      </p:sp>
      <p:sp>
        <p:nvSpPr>
          <p:cNvPr id="4" name="Text 2"/>
          <p:cNvSpPr/>
          <p:nvPr/>
        </p:nvSpPr>
        <p:spPr>
          <a:xfrm>
            <a:off x="457200" y="2286000"/>
            <a:ext cx="8229600" cy="45720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Live walkthrough of the final Sahara prototype — public web link shown during demo. Tested on desktop and mobile.</a:t>
            </a:r>
            <a:endParaRPr lang="en-US" sz="1600" dirty="0"/>
          </a:p>
        </p:txBody>
      </p:sp>
      <p:sp>
        <p:nvSpPr>
          <p:cNvPr id="5" name="Text 3"/>
          <p:cNvSpPr/>
          <p:nvPr/>
        </p:nvSpPr>
        <p:spPr>
          <a:xfrm>
            <a:off x="457200" y="4343400"/>
            <a:ext cx="8229600" cy="7772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Demo should cover: </a:t>
            </a:r>
            <a:endParaRPr lang="en-US" sz="1200" dirty="0"/>
          </a:p>
          <a:p>
            <a:pPr marL="0" indent="0">
              <a:buNone/>
            </a:pPr>
            <a:r>
              <a:rPr lang="en-US" sz="1100" dirty="0">
                <a:solidFill>
                  <a:srgbClr val="2A2A2A"/>
                </a:solidFill>
                <a:latin typeface="Calibri" pitchFamily="34" charset="0"/>
                <a:ea typeface="Calibri" pitchFamily="34" charset="-122"/>
                <a:cs typeface="Calibri" pitchFamily="34" charset="-120"/>
              </a:rPr>
              <a:t>•  Core AI functionality in action</a:t>
            </a:r>
            <a:endParaRPr lang="en-US" sz="1200" dirty="0"/>
          </a:p>
          <a:p>
            <a:pPr marL="0" indent="0">
              <a:buNone/>
            </a:pPr>
            <a:r>
              <a:rPr lang="en-US" sz="1100" dirty="0">
                <a:solidFill>
                  <a:srgbClr val="2A2A2A"/>
                </a:solidFill>
                <a:latin typeface="Calibri" pitchFamily="34" charset="0"/>
                <a:ea typeface="Calibri" pitchFamily="34" charset="-122"/>
                <a:cs typeface="Calibri" pitchFamily="34" charset="-120"/>
              </a:rPr>
              <a:t>•  Ethical safeguards implemented (consent flow, privacy controls, explainability features)</a:t>
            </a:r>
            <a:endParaRPr lang="en-US" sz="1200" dirty="0"/>
          </a:p>
          <a:p>
            <a:pPr marL="0" indent="0">
              <a:buNone/>
            </a:pPr>
            <a:r>
              <a:rPr lang="en-US" sz="1100" dirty="0">
                <a:solidFill>
                  <a:srgbClr val="2A2A2A"/>
                </a:solidFill>
                <a:latin typeface="Calibri" pitchFamily="34" charset="0"/>
                <a:ea typeface="Calibri" pitchFamily="34" charset="-122"/>
                <a:cs typeface="Calibri" pitchFamily="34" charset="-120"/>
              </a:rPr>
              <a:t>•  How specific feedback items were addressed in the final version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Reflection &amp; Lessons Learned</a:t>
            </a:r>
            <a:endParaRPr lang="en-US" sz="3000" dirty="0"/>
          </a:p>
        </p:txBody>
      </p:sp>
      <p:sp>
        <p:nvSpPr>
          <p:cNvPr id="3" name="Shape 1"/>
          <p:cNvSpPr/>
          <p:nvPr/>
        </p:nvSpPr>
        <p:spPr>
          <a:xfrm>
            <a:off x="457200" y="1005840"/>
            <a:ext cx="73152" cy="548640"/>
          </a:xfrm>
          <a:prstGeom prst="rect">
            <a:avLst/>
          </a:prstGeom>
          <a:solidFill>
            <a:srgbClr val="1E2761"/>
          </a:solidFill>
          <a:ln/>
        </p:spPr>
        <p:txBody>
          <a:bodyPr/>
          <a:lstStyle/>
          <a:p>
            <a:endParaRPr lang="en-US"/>
          </a:p>
        </p:txBody>
      </p:sp>
      <p:sp>
        <p:nvSpPr>
          <p:cNvPr id="4" name="Text 2"/>
          <p:cNvSpPr/>
          <p:nvPr/>
        </p:nvSpPr>
        <p:spPr>
          <a:xfrm>
            <a:off x="731520" y="1005840"/>
            <a:ext cx="27432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Technical Challenges</a:t>
            </a:r>
            <a:endParaRPr lang="en-US" sz="1400" dirty="0"/>
          </a:p>
        </p:txBody>
      </p:sp>
      <p:sp>
        <p:nvSpPr>
          <p:cNvPr id="5" name="Text 3"/>
          <p:cNvSpPr/>
          <p:nvPr/>
        </p:nvSpPr>
        <p:spPr>
          <a:xfrm>
            <a:off x="3474720" y="1005840"/>
            <a:ext cx="521208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Calibrating the safety filter to catch implicit distress phrasing (e.g. "can't go on") without over-triggering on casual stress. Designing session-only state so nothing leaks across users without adding a database. Groq rate-limit handling and keeping context short for cost + privacy.</a:t>
            </a:r>
            <a:endParaRPr lang="en-US" sz="1100" dirty="0"/>
          </a:p>
        </p:txBody>
      </p:sp>
      <p:sp>
        <p:nvSpPr>
          <p:cNvPr id="6" name="Shape 4"/>
          <p:cNvSpPr/>
          <p:nvPr/>
        </p:nvSpPr>
        <p:spPr>
          <a:xfrm>
            <a:off x="457200" y="1783080"/>
            <a:ext cx="73152" cy="548640"/>
          </a:xfrm>
          <a:prstGeom prst="rect">
            <a:avLst/>
          </a:prstGeom>
          <a:solidFill>
            <a:srgbClr val="1E2761"/>
          </a:solidFill>
          <a:ln/>
        </p:spPr>
        <p:txBody>
          <a:bodyPr/>
          <a:lstStyle/>
          <a:p>
            <a:endParaRPr lang="en-US"/>
          </a:p>
        </p:txBody>
      </p:sp>
      <p:sp>
        <p:nvSpPr>
          <p:cNvPr id="7" name="Text 5"/>
          <p:cNvSpPr/>
          <p:nvPr/>
        </p:nvSpPr>
        <p:spPr>
          <a:xfrm>
            <a:off x="731520" y="1783080"/>
            <a:ext cx="27432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Ethical Insights</a:t>
            </a:r>
            <a:endParaRPr lang="en-US" sz="1400" dirty="0"/>
          </a:p>
        </p:txBody>
      </p:sp>
      <p:sp>
        <p:nvSpPr>
          <p:cNvPr id="8" name="Text 6"/>
          <p:cNvSpPr/>
          <p:nvPr/>
        </p:nvSpPr>
        <p:spPr>
          <a:xfrm>
            <a:off x="3474720" y="1783080"/>
            <a:ext cx="521208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Users care far more about transparency and accountability than about fancy features. A single consent pop-up is not enough — reinforcement during the conversation matters. Empathetic tone alone does not justify the risk of false reassurance in a mental-health context.</a:t>
            </a:r>
            <a:endParaRPr lang="en-US" sz="1100" dirty="0"/>
          </a:p>
        </p:txBody>
      </p:sp>
      <p:sp>
        <p:nvSpPr>
          <p:cNvPr id="9" name="Shape 7"/>
          <p:cNvSpPr/>
          <p:nvPr/>
        </p:nvSpPr>
        <p:spPr>
          <a:xfrm>
            <a:off x="457200" y="2560320"/>
            <a:ext cx="73152" cy="548640"/>
          </a:xfrm>
          <a:prstGeom prst="rect">
            <a:avLst/>
          </a:prstGeom>
          <a:solidFill>
            <a:srgbClr val="1E2761"/>
          </a:solidFill>
          <a:ln/>
        </p:spPr>
        <p:txBody>
          <a:bodyPr/>
          <a:lstStyle/>
          <a:p>
            <a:endParaRPr lang="en-US"/>
          </a:p>
        </p:txBody>
      </p:sp>
      <p:sp>
        <p:nvSpPr>
          <p:cNvPr id="10" name="Text 8"/>
          <p:cNvSpPr/>
          <p:nvPr/>
        </p:nvSpPr>
        <p:spPr>
          <a:xfrm>
            <a:off x="731520" y="2560320"/>
            <a:ext cx="27432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Feedback Process Learnings</a:t>
            </a:r>
            <a:endParaRPr lang="en-US" sz="1400" dirty="0"/>
          </a:p>
        </p:txBody>
      </p:sp>
      <p:sp>
        <p:nvSpPr>
          <p:cNvPr id="11" name="Text 9"/>
          <p:cNvSpPr/>
          <p:nvPr/>
        </p:nvSpPr>
        <p:spPr>
          <a:xfrm>
            <a:off x="3474720" y="2560320"/>
            <a:ext cx="521208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The structured 30-question questionnaire made answers comparable and surfaced the two weak spots (explainability 2.3/5, data control 2.7/5) cleanly. Next time: pre-brief respondents on what a good crisis-response should look like, so Q29 answers go deeper than "make it more prominent."</a:t>
            </a:r>
            <a:endParaRPr lang="en-US" sz="1100" dirty="0"/>
          </a:p>
        </p:txBody>
      </p:sp>
      <p:sp>
        <p:nvSpPr>
          <p:cNvPr id="12" name="Shape 10"/>
          <p:cNvSpPr/>
          <p:nvPr/>
        </p:nvSpPr>
        <p:spPr>
          <a:xfrm>
            <a:off x="457200" y="3337560"/>
            <a:ext cx="73152" cy="548640"/>
          </a:xfrm>
          <a:prstGeom prst="rect">
            <a:avLst/>
          </a:prstGeom>
          <a:solidFill>
            <a:srgbClr val="1E2761"/>
          </a:solidFill>
          <a:ln/>
        </p:spPr>
        <p:txBody>
          <a:bodyPr/>
          <a:lstStyle/>
          <a:p>
            <a:endParaRPr lang="en-US"/>
          </a:p>
        </p:txBody>
      </p:sp>
      <p:sp>
        <p:nvSpPr>
          <p:cNvPr id="13" name="Text 11"/>
          <p:cNvSpPr/>
          <p:nvPr/>
        </p:nvSpPr>
        <p:spPr>
          <a:xfrm>
            <a:off x="731520" y="3337560"/>
            <a:ext cx="27432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Remaining Ethical Risks</a:t>
            </a:r>
            <a:endParaRPr lang="en-US" sz="1400" dirty="0"/>
          </a:p>
        </p:txBody>
      </p:sp>
      <p:sp>
        <p:nvSpPr>
          <p:cNvPr id="14" name="Text 12"/>
          <p:cNvSpPr/>
          <p:nvPr/>
        </p:nvSpPr>
        <p:spPr>
          <a:xfrm>
            <a:off x="3474720" y="3337560"/>
            <a:ext cx="521208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English-only language limits reach across non-urban students. No real-time human-counselor handoff yet. LLM hallucination and tone-deaf-response risk remains. Environmental cost of LLM inference is not addressed in-app.</a:t>
            </a:r>
            <a:endParaRPr lang="en-US" sz="1100" dirty="0"/>
          </a:p>
        </p:txBody>
      </p:sp>
      <p:sp>
        <p:nvSpPr>
          <p:cNvPr id="15" name="Shape 13"/>
          <p:cNvSpPr/>
          <p:nvPr/>
        </p:nvSpPr>
        <p:spPr>
          <a:xfrm>
            <a:off x="457200" y="4114800"/>
            <a:ext cx="73152" cy="548640"/>
          </a:xfrm>
          <a:prstGeom prst="rect">
            <a:avLst/>
          </a:prstGeom>
          <a:solidFill>
            <a:srgbClr val="1E2761"/>
          </a:solidFill>
          <a:ln/>
        </p:spPr>
        <p:txBody>
          <a:bodyPr/>
          <a:lstStyle/>
          <a:p>
            <a:endParaRPr lang="en-US"/>
          </a:p>
        </p:txBody>
      </p:sp>
      <p:sp>
        <p:nvSpPr>
          <p:cNvPr id="16" name="Text 14"/>
          <p:cNvSpPr/>
          <p:nvPr/>
        </p:nvSpPr>
        <p:spPr>
          <a:xfrm>
            <a:off x="731520" y="4114800"/>
            <a:ext cx="2743200" cy="27432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If Given More Time</a:t>
            </a:r>
            <a:endParaRPr lang="en-US" sz="1400" dirty="0"/>
          </a:p>
        </p:txBody>
      </p:sp>
      <p:sp>
        <p:nvSpPr>
          <p:cNvPr id="17" name="Text 15"/>
          <p:cNvSpPr/>
          <p:nvPr/>
        </p:nvSpPr>
        <p:spPr>
          <a:xfrm>
            <a:off x="3474720" y="4114800"/>
            <a:ext cx="5212080" cy="59436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Hindi + regional language support (2 respondents asked). Real counselor tele-handoff from the crisis banner. Source citations for coping-strategy advice. Journaling + weekly mood-summary features requested by users. A full DPDP-aligned privacy policy 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B85042"/>
          </a:solidFill>
          <a:ln/>
        </p:spPr>
        <p:txBody>
          <a:bodyPr/>
          <a:lstStyle/>
          <a:p>
            <a:endParaRPr lang="en-US"/>
          </a:p>
        </p:txBody>
      </p:sp>
      <p:sp>
        <p:nvSpPr>
          <p:cNvPr id="3" name="Text 1"/>
          <p:cNvSpPr/>
          <p:nvPr/>
        </p:nvSpPr>
        <p:spPr>
          <a:xfrm>
            <a:off x="731520" y="1371600"/>
            <a:ext cx="7315200" cy="73152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4" name="Text 2"/>
          <p:cNvSpPr/>
          <p:nvPr/>
        </p:nvSpPr>
        <p:spPr>
          <a:xfrm>
            <a:off x="731520" y="2194560"/>
            <a:ext cx="731520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p:nvPr/>
        </p:nvSpPr>
        <p:spPr>
          <a:xfrm>
            <a:off x="731520" y="3017520"/>
            <a:ext cx="7315200" cy="1828800"/>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Team: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Ishaan Pandey · Om Singh · Deekshant Singh Rajawat</a:t>
            </a:r>
            <a:endParaRPr lang="en-US" sz="1400" dirty="0"/>
          </a:p>
          <a:p>
            <a:pPr marL="0" indent="0">
              <a:buNone/>
            </a:pPr>
            <a:endParaRPr lang="en-US" sz="1400" dirty="0"/>
          </a:p>
          <a:p>
            <a:pPr marL="0" indent="0">
              <a:buNone/>
            </a:pPr>
            <a:r>
              <a:rPr lang="en-US" sz="1400" b="1" dirty="0">
                <a:solidFill>
                  <a:srgbClr val="CADCFC"/>
                </a:solidFill>
                <a:latin typeface="Calibri" pitchFamily="34" charset="0"/>
                <a:ea typeface="Calibri" pitchFamily="34" charset="-122"/>
                <a:cs typeface="Calibri" pitchFamily="34" charset="-120"/>
              </a:rPr>
              <a:t>Application: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Sahara — सहारा · AI-powered mental-health peer-listener chatbot for college students</a:t>
            </a:r>
            <a:endParaRPr lang="en-US" sz="1400" dirty="0"/>
          </a:p>
          <a:p>
            <a:pPr marL="0" indent="0">
              <a:buNone/>
            </a:pPr>
            <a:endParaRPr lang="en-US" sz="1400" dirty="0"/>
          </a:p>
          <a:p>
            <a:pPr marL="0" indent="0">
              <a:buNone/>
            </a:pPr>
            <a:r>
              <a:rPr lang="en-US" sz="1400" b="1" dirty="0">
                <a:solidFill>
                  <a:srgbClr val="CADCFC"/>
                </a:solidFill>
                <a:latin typeface="Calibri" pitchFamily="34" charset="0"/>
                <a:ea typeface="Calibri" pitchFamily="34" charset="-122"/>
                <a:cs typeface="Calibri" pitchFamily="34" charset="-120"/>
              </a:rPr>
              <a:t>Contact: </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Prototype: public Render link shown in demo · Course: MSL7500 — Ethical Issues with AI · IIT Jodhpur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1297</Words>
  <Application>Microsoft Macintosh PowerPoint</Application>
  <PresentationFormat>On-screen Show (16:9)</PresentationFormat>
  <Paragraphs>193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Prototype Submission - Presentation Template</dc:title>
  <dc:subject>PptxGenJS Presentation</dc:subject>
  <dc:creator>Ethical Issues with AI Course</dc:creator>
  <cp:lastModifiedBy>G. Venkat Ram Reddy</cp:lastModifiedBy>
  <cp:revision>1</cp:revision>
  <dcterms:created xsi:type="dcterms:W3CDTF">2026-03-29T04:54:14Z</dcterms:created>
  <dcterms:modified xsi:type="dcterms:W3CDTF">2026-03-29T05:08:12Z</dcterms:modified>
</cp:coreProperties>
</file>